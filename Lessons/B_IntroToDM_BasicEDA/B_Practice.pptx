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6"/>
  </p:notesMasterIdLst>
  <p:sldIdLst>
    <p:sldId id="454" r:id="rId2"/>
    <p:sldId id="607" r:id="rId3"/>
    <p:sldId id="608" r:id="rId4"/>
    <p:sldId id="609" r:id="rId5"/>
    <p:sldId id="610" r:id="rId6"/>
    <p:sldId id="611" r:id="rId7"/>
    <p:sldId id="612" r:id="rId8"/>
    <p:sldId id="539" r:id="rId9"/>
    <p:sldId id="540" r:id="rId10"/>
    <p:sldId id="497" r:id="rId11"/>
    <p:sldId id="613" r:id="rId12"/>
    <p:sldId id="498" r:id="rId13"/>
    <p:sldId id="471" r:id="rId14"/>
    <p:sldId id="604" r:id="rId15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1C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42" autoAdjust="0"/>
    <p:restoredTop sz="91361" autoAdjust="0"/>
  </p:normalViewPr>
  <p:slideViewPr>
    <p:cSldViewPr snapToGrid="0">
      <p:cViewPr varScale="1">
        <p:scale>
          <a:sx n="112" d="100"/>
          <a:sy n="112" d="100"/>
        </p:scale>
        <p:origin x="15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C333ABA6-B72D-4ED4-A6E7-13A0DAE65F1A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14463" y="1162050"/>
            <a:ext cx="4181475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ADC303B9-2C3E-4EA0-A819-58B20A5A8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082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C303B9-2C3E-4EA0-A819-58B20A5A846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750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8B90E-0779-4C36-915C-6F05FCD89456}" type="datetime1">
              <a:rPr lang="en-US" smtClean="0"/>
              <a:t>2/2/26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12290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1046427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11347"/>
            <a:ext cx="7886700" cy="51206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EFC8-4232-4598-94F6-94C0EBAFC469}" type="datetime1">
              <a:rPr lang="en-US" smtClean="0"/>
              <a:t>2/2/26</a:t>
            </a:fld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3669344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61074-1C18-4AE7-957D-F18524378C85}" type="datetime1">
              <a:rPr lang="en-US" smtClean="0"/>
              <a:t>2/2/26</a:t>
            </a:fld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3607285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192583"/>
            <a:ext cx="3886200" cy="4969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192583"/>
            <a:ext cx="3886200" cy="4969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E256C-8D9A-4404-B47D-41A1AE514425}" type="datetime1">
              <a:rPr lang="en-US" smtClean="0"/>
              <a:t>2/2/26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3481223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132519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956431"/>
            <a:ext cx="3868340" cy="42052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132519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956431"/>
            <a:ext cx="3887391" cy="42052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B2154-9035-4012-8189-BAAB61C5A5EE}" type="datetime1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Kwartler 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12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0496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336198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E382-4F61-4E24-BE1A-377EC83D0E3A}" type="datetime1">
              <a:rPr lang="en-US" smtClean="0"/>
              <a:t>2/2/26</a:t>
            </a:fld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2523039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083212"/>
            <a:ext cx="4629150" cy="507843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097279"/>
            <a:ext cx="2949178" cy="5064369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2EED6-FC16-45B9-B8C4-2BC5DBA88325}" type="datetime1">
              <a:rPr lang="en-US" smtClean="0"/>
              <a:t>2/2/26</a:t>
            </a:fld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3035383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1139483"/>
            <a:ext cx="4629150" cy="5022166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181685"/>
            <a:ext cx="2949178" cy="497996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9512B-4F1D-43D7-8819-2F53FEF69650}" type="datetime1">
              <a:rPr lang="en-US" smtClean="0"/>
              <a:t>2/2/26</a:t>
            </a:fld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3159791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080030"/>
            <a:ext cx="7886700" cy="512064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EA29D-D431-42FE-B7B6-AAE4454C77D3}" type="datetime1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Kwartler 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700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1209821"/>
            <a:ext cx="1971675" cy="4967141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223889"/>
            <a:ext cx="5800725" cy="4953074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D8A1E-EA8F-46C1-B891-AE0C00D9C314}" type="datetime1">
              <a:rPr lang="en-US" smtClean="0"/>
              <a:t>2/2/26</a:t>
            </a:fld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</p:spPr>
        <p:txBody>
          <a:bodyPr/>
          <a:lstStyle/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2" descr="Image result for harvard logo transparent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6248400"/>
            <a:ext cx="1828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itle 1"/>
          <p:cNvSpPr txBox="1">
            <a:spLocks/>
          </p:cNvSpPr>
          <p:nvPr userDrawn="1"/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765332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08176"/>
            <a:ext cx="7886700" cy="5120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437B94-E2BF-44DC-ADC5-B05FC9934E9D}" type="datetime1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90FF7-652B-4475-AEAB-8B1A5D23AE0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7898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9469500"/>
              </p:ext>
            </p:extLst>
          </p:nvPr>
        </p:nvGraphicFramePr>
        <p:xfrm>
          <a:off x="614363" y="1111250"/>
          <a:ext cx="7915275" cy="23774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242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1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1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Item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Core Concepts in Data Mining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More R learning &amp; EDA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9E99B-5349-415A-8E56-8E989211A366}" type="datetime1">
              <a:rPr lang="en-US" smtClean="0"/>
              <a:t>2/2/26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1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9CEEE6C-8E0E-8948-A8BE-4C5C57B2A9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136402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92D3D3-9F52-E94D-B834-E566B3567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220BA3-F284-E448-91DC-0A09067FE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Slow down!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A21B8-6B2C-9544-B0E0-63B0AA993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5138C-9C58-CE49-A3E8-CF3E3845A6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Kwartler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ABE010-BEDE-154B-8AE8-918FF464B777}"/>
              </a:ext>
            </a:extLst>
          </p:cNvPr>
          <p:cNvSpPr txBox="1"/>
          <p:nvPr/>
        </p:nvSpPr>
        <p:spPr>
          <a:xfrm>
            <a:off x="265596" y="1855983"/>
            <a:ext cx="86128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Before jumping into a problem think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temptation is to accept data as valid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temptation is to assume you understand the context and what good looks like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temptation is to use a cool modeling technique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D7A516-6225-2F48-8702-832175687C11}"/>
              </a:ext>
            </a:extLst>
          </p:cNvPr>
          <p:cNvSpPr/>
          <p:nvPr/>
        </p:nvSpPr>
        <p:spPr>
          <a:xfrm>
            <a:off x="457200" y="5193792"/>
            <a:ext cx="8284464" cy="731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Slow down, think, understand, get diverse opinions, then perform EDA….after all that start modeling and hopefully you will deliver value.</a:t>
            </a:r>
          </a:p>
        </p:txBody>
      </p:sp>
    </p:spTree>
    <p:extLst>
      <p:ext uri="{BB962C8B-B14F-4D97-AF65-F5344CB8AC3E}">
        <p14:creationId xmlns:p14="http://schemas.microsoft.com/office/powerpoint/2010/main" val="3303930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69087-3741-F740-BF0B-C415C26B8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01E3B-5809-814B-83D8-4518C380E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9144000" cy="591477"/>
          </a:xfrm>
        </p:spPr>
        <p:txBody>
          <a:bodyPr/>
          <a:lstStyle/>
          <a:p>
            <a:r>
              <a:rPr lang="en-US" dirty="0"/>
              <a:t>“We want to sell insurance for delayed flights.”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A4F3F-DD99-0247-B717-ECA95811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3ABBB-C321-8C4F-9138-22727CF10B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Kwartler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658CD-111D-D841-885E-7DF155C28C3A}"/>
              </a:ext>
            </a:extLst>
          </p:cNvPr>
          <p:cNvSpPr txBox="1"/>
          <p:nvPr/>
        </p:nvSpPr>
        <p:spPr>
          <a:xfrm>
            <a:off x="514190" y="1883664"/>
            <a:ext cx="811562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Let’s make a model to predict late flights so we know how to price our insurance.</a:t>
            </a:r>
          </a:p>
          <a:p>
            <a:pPr marL="342900" indent="-342900">
              <a:buAutoNum type="arabicPeriod"/>
            </a:pPr>
            <a:r>
              <a:rPr lang="en-US" dirty="0"/>
              <a:t>Get all the data you can about flights and whether or not they are delayed</a:t>
            </a:r>
          </a:p>
          <a:p>
            <a:pPr marL="800100" lvl="1" indent="-342900">
              <a:buAutoNum type="arabicPeriod"/>
            </a:pPr>
            <a:r>
              <a:rPr lang="en-US" dirty="0"/>
              <a:t>Airline</a:t>
            </a:r>
          </a:p>
          <a:p>
            <a:pPr marL="800100" lvl="1" indent="-342900">
              <a:buAutoNum type="arabicPeriod"/>
            </a:pPr>
            <a:r>
              <a:rPr lang="en-US" dirty="0"/>
              <a:t>Route</a:t>
            </a:r>
          </a:p>
          <a:p>
            <a:pPr marL="800100" lvl="1" indent="-342900">
              <a:buAutoNum type="arabicPeriod"/>
            </a:pPr>
            <a:r>
              <a:rPr lang="en-US" dirty="0"/>
              <a:t>Flight cancellation</a:t>
            </a:r>
          </a:p>
          <a:p>
            <a:pPr marL="800100" lvl="1" indent="-342900">
              <a:buAutoNum type="arabicPeriod"/>
            </a:pPr>
            <a:r>
              <a:rPr lang="en-US" dirty="0"/>
              <a:t>Aircraft type</a:t>
            </a:r>
          </a:p>
          <a:p>
            <a:pPr marL="800100" lvl="1" indent="-342900">
              <a:buAutoNum type="arabicPeriod"/>
            </a:pPr>
            <a:r>
              <a:rPr lang="en-US" dirty="0"/>
              <a:t>Aircraft maintenance </a:t>
            </a:r>
          </a:p>
          <a:p>
            <a:pPr marL="800100" lvl="1" indent="-342900">
              <a:buAutoNum type="arabicPeriod"/>
            </a:pPr>
            <a:r>
              <a:rPr lang="en-US" dirty="0"/>
              <a:t>Weather at specific airports</a:t>
            </a:r>
          </a:p>
          <a:p>
            <a:pPr marL="800100" lvl="1" indent="-342900">
              <a:buAutoNum type="arabicPeriod"/>
            </a:pPr>
            <a:r>
              <a:rPr lang="en-US" dirty="0"/>
              <a:t>Seats sold vs empty</a:t>
            </a:r>
          </a:p>
          <a:p>
            <a:pPr marL="800100" lvl="1" indent="-342900">
              <a:buAutoNum type="arabicPeriod"/>
            </a:pPr>
            <a:r>
              <a:rPr lang="en-US" dirty="0"/>
              <a:t>…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198F46-5E1F-E74D-B46A-8FC3D2800E58}"/>
              </a:ext>
            </a:extLst>
          </p:cNvPr>
          <p:cNvSpPr/>
          <p:nvPr/>
        </p:nvSpPr>
        <p:spPr>
          <a:xfrm>
            <a:off x="457200" y="5193792"/>
            <a:ext cx="8284464" cy="731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WRONG.  Most often, flights are cancelled after they have been delayed.  So modeling with cancellation is out of order to what you’re trying to predict. 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30D0C0-5CEF-8043-A804-E7FAE9DB5BF9}"/>
              </a:ext>
            </a:extLst>
          </p:cNvPr>
          <p:cNvCxnSpPr/>
          <p:nvPr/>
        </p:nvCxnSpPr>
        <p:spPr>
          <a:xfrm flipH="1">
            <a:off x="3145536" y="3182112"/>
            <a:ext cx="14264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6698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69087-3741-F740-BF0B-C415C26B8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01E3B-5809-814B-83D8-4518C380E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9144000" cy="591477"/>
          </a:xfrm>
        </p:spPr>
        <p:txBody>
          <a:bodyPr/>
          <a:lstStyle/>
          <a:p>
            <a:r>
              <a:rPr lang="en-US" sz="2000" dirty="0"/>
              <a:t>“We want to predict hospital readmission to improve patient quality of life.”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A4F3F-DD99-0247-B717-ECA95811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3ABBB-C321-8C4F-9138-22727CF10B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Kwartler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658CD-111D-D841-885E-7DF155C28C3A}"/>
              </a:ext>
            </a:extLst>
          </p:cNvPr>
          <p:cNvSpPr txBox="1"/>
          <p:nvPr/>
        </p:nvSpPr>
        <p:spPr>
          <a:xfrm>
            <a:off x="540315" y="1387642"/>
            <a:ext cx="828446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Let’s make a model to predict late probability of readmission.</a:t>
            </a:r>
          </a:p>
          <a:p>
            <a:pPr marL="342900" indent="-342900">
              <a:buAutoNum type="arabicPeriod"/>
            </a:pPr>
            <a:r>
              <a:rPr lang="en-US" dirty="0"/>
              <a:t>Get all the data you can about patients  and whether or not had to come back within 30days.</a:t>
            </a:r>
          </a:p>
          <a:p>
            <a:pPr marL="800100" lvl="1" indent="-342900">
              <a:buAutoNum type="arabicPeriod"/>
            </a:pPr>
            <a:r>
              <a:rPr lang="en-US" dirty="0"/>
              <a:t>Race</a:t>
            </a:r>
          </a:p>
          <a:p>
            <a:pPr marL="800100" lvl="1" indent="-342900">
              <a:buAutoNum type="arabicPeriod"/>
            </a:pPr>
            <a:r>
              <a:rPr lang="en-US" dirty="0"/>
              <a:t>Age</a:t>
            </a:r>
          </a:p>
          <a:p>
            <a:pPr marL="800100" lvl="1" indent="-342900">
              <a:buAutoNum type="arabicPeriod"/>
            </a:pPr>
            <a:r>
              <a:rPr lang="en-US" dirty="0"/>
              <a:t>Weight</a:t>
            </a:r>
          </a:p>
          <a:p>
            <a:pPr marL="800100" lvl="1" indent="-342900">
              <a:buAutoNum type="arabicPeriod"/>
            </a:pPr>
            <a:r>
              <a:rPr lang="en-US" dirty="0"/>
              <a:t>Gender</a:t>
            </a:r>
          </a:p>
          <a:p>
            <a:pPr marL="800100" lvl="1" indent="-342900">
              <a:buAutoNum type="arabicPeriod"/>
            </a:pPr>
            <a:r>
              <a:rPr lang="en-US" dirty="0"/>
              <a:t>Has the person expired</a:t>
            </a:r>
          </a:p>
          <a:p>
            <a:pPr marL="800100" lvl="1" indent="-342900">
              <a:buAutoNum type="arabicPeriod"/>
            </a:pPr>
            <a:r>
              <a:rPr lang="en-US" dirty="0"/>
              <a:t>Height</a:t>
            </a:r>
          </a:p>
          <a:p>
            <a:pPr marL="800100" lvl="1" indent="-342900">
              <a:buAutoNum type="arabicPeriod"/>
            </a:pPr>
            <a:r>
              <a:rPr lang="en-US" dirty="0"/>
              <a:t>Different drugs they may be on</a:t>
            </a:r>
          </a:p>
          <a:p>
            <a:pPr marL="800100" lvl="1" indent="-342900">
              <a:buAutoNum type="arabicPeriod"/>
            </a:pPr>
            <a:r>
              <a:rPr lang="en-US" dirty="0"/>
              <a:t>Number of tests</a:t>
            </a:r>
          </a:p>
          <a:p>
            <a:pPr marL="800100" lvl="1" indent="-342900">
              <a:buAutoNum type="arabicPeriod"/>
            </a:pPr>
            <a:r>
              <a:rPr lang="en-US" dirty="0"/>
              <a:t>Number of diagnoses</a:t>
            </a:r>
          </a:p>
          <a:p>
            <a:pPr marL="800100" lvl="1" indent="-342900">
              <a:buAutoNum type="arabicPeriod"/>
            </a:pPr>
            <a:r>
              <a:rPr lang="en-US" dirty="0"/>
              <a:t>…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198F46-5E1F-E74D-B46A-8FC3D2800E58}"/>
              </a:ext>
            </a:extLst>
          </p:cNvPr>
          <p:cNvSpPr/>
          <p:nvPr/>
        </p:nvSpPr>
        <p:spPr>
          <a:xfrm>
            <a:off x="457200" y="5193792"/>
            <a:ext cx="8284464" cy="731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WRONG.  People that have expired are not coming back to the hospital. 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885D88-70C0-7B49-BBD3-FBD08D89B206}"/>
              </a:ext>
            </a:extLst>
          </p:cNvPr>
          <p:cNvCxnSpPr/>
          <p:nvPr/>
        </p:nvCxnSpPr>
        <p:spPr>
          <a:xfrm flipH="1">
            <a:off x="3675888" y="3483864"/>
            <a:ext cx="14264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097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69087-3741-F740-BF0B-C415C26B8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01E3B-5809-814B-83D8-4518C380E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9144000" cy="591477"/>
          </a:xfrm>
        </p:spPr>
        <p:txBody>
          <a:bodyPr/>
          <a:lstStyle/>
          <a:p>
            <a:r>
              <a:rPr lang="en-US" sz="1800" dirty="0"/>
              <a:t>“Let’s predict if an employee is likely to be fired to help our HR ops make better hiring decisions.”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A4F3F-DD99-0247-B717-ECA95811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3ABBB-C321-8C4F-9138-22727CF10B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Kwartler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658CD-111D-D841-885E-7DF155C28C3A}"/>
              </a:ext>
            </a:extLst>
          </p:cNvPr>
          <p:cNvSpPr txBox="1"/>
          <p:nvPr/>
        </p:nvSpPr>
        <p:spPr>
          <a:xfrm>
            <a:off x="540315" y="1387642"/>
            <a:ext cx="828446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Let’s make a model to predict late probability of being fired.</a:t>
            </a:r>
          </a:p>
          <a:p>
            <a:pPr marL="342900" indent="-342900">
              <a:buAutoNum type="arabicPeriod"/>
            </a:pPr>
            <a:r>
              <a:rPr lang="en-US" dirty="0"/>
              <a:t>Get all the data you can about employees and figure out the probability for getting fired.</a:t>
            </a:r>
          </a:p>
          <a:p>
            <a:pPr marL="800100" lvl="1" indent="-342900">
              <a:buAutoNum type="arabicPeriod"/>
            </a:pPr>
            <a:r>
              <a:rPr lang="en-US" dirty="0"/>
              <a:t>Distance to work</a:t>
            </a:r>
          </a:p>
          <a:p>
            <a:pPr marL="800100" lvl="1" indent="-342900">
              <a:buAutoNum type="arabicPeriod"/>
            </a:pPr>
            <a:r>
              <a:rPr lang="en-US" dirty="0"/>
              <a:t>Transportation Type</a:t>
            </a:r>
          </a:p>
          <a:p>
            <a:pPr marL="800100" lvl="1" indent="-342900">
              <a:buAutoNum type="arabicPeriod"/>
            </a:pPr>
            <a:r>
              <a:rPr lang="en-US" dirty="0"/>
              <a:t>Transportation Reliability</a:t>
            </a:r>
          </a:p>
          <a:p>
            <a:pPr marL="800100" lvl="1" indent="-342900">
              <a:buAutoNum type="arabicPeriod"/>
            </a:pPr>
            <a:r>
              <a:rPr lang="en-US" dirty="0"/>
              <a:t>Last review score</a:t>
            </a:r>
          </a:p>
          <a:p>
            <a:pPr marL="800100" lvl="1" indent="-342900">
              <a:buAutoNum type="arabicPeriod"/>
            </a:pPr>
            <a:r>
              <a:rPr lang="en-US" dirty="0"/>
              <a:t>Were they on a performance plan</a:t>
            </a:r>
          </a:p>
          <a:p>
            <a:pPr marL="800100" lvl="1" indent="-342900">
              <a:buAutoNum type="arabicPeriod"/>
            </a:pPr>
            <a:r>
              <a:rPr lang="en-US" dirty="0"/>
              <a:t>Education</a:t>
            </a:r>
          </a:p>
          <a:p>
            <a:pPr marL="800100" lvl="1" indent="-342900">
              <a:buAutoNum type="arabicPeriod"/>
            </a:pPr>
            <a:r>
              <a:rPr lang="en-US" dirty="0"/>
              <a:t>Pay</a:t>
            </a:r>
          </a:p>
          <a:p>
            <a:pPr marL="800100" lvl="1" indent="-342900">
              <a:buAutoNum type="arabicPeriod"/>
            </a:pPr>
            <a:r>
              <a:rPr lang="en-US" dirty="0"/>
              <a:t>Current role</a:t>
            </a:r>
          </a:p>
          <a:p>
            <a:pPr marL="800100" lvl="1" indent="-342900">
              <a:buAutoNum type="arabicPeriod"/>
            </a:pPr>
            <a:r>
              <a:rPr lang="en-US" dirty="0"/>
              <a:t>…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198F46-5E1F-E74D-B46A-8FC3D2800E58}"/>
              </a:ext>
            </a:extLst>
          </p:cNvPr>
          <p:cNvSpPr/>
          <p:nvPr/>
        </p:nvSpPr>
        <p:spPr>
          <a:xfrm>
            <a:off x="457200" y="5193792"/>
            <a:ext cx="8284464" cy="731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WRONG.  People that are on a performance plan know they will be fired at a specific date, as that date draws near they will quit.  Since they quit, they will not be considered “FIRED” in most HR systems. 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078EFA4-138F-1247-83F2-AF65AE8D0872}"/>
              </a:ext>
            </a:extLst>
          </p:cNvPr>
          <p:cNvCxnSpPr/>
          <p:nvPr/>
        </p:nvCxnSpPr>
        <p:spPr>
          <a:xfrm flipH="1">
            <a:off x="4681728" y="3511296"/>
            <a:ext cx="14264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3628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26F1E4-C13B-3047-A2EA-C71791408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DFE1BA-1039-0241-AB4B-A5C83B80C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9144000" cy="591477"/>
          </a:xfrm>
        </p:spPr>
        <p:txBody>
          <a:bodyPr/>
          <a:lstStyle/>
          <a:p>
            <a:r>
              <a:rPr lang="en-US" sz="3200" dirty="0"/>
              <a:t>Where should we put extra structural reinforcements?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EA302-3797-534A-BA4C-C666B642A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AF454-0E86-044A-8ED5-3FD326DA4D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Kwartler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AB8D42-8384-DD4B-BCBA-606C65F07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666" y="1437620"/>
            <a:ext cx="5956663" cy="4437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26BD4A-4519-6640-9016-E0E1CBAF8939}"/>
              </a:ext>
            </a:extLst>
          </p:cNvPr>
          <p:cNvSpPr txBox="1"/>
          <p:nvPr/>
        </p:nvSpPr>
        <p:spPr>
          <a:xfrm>
            <a:off x="1188829" y="1252954"/>
            <a:ext cx="6766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Pattern of damage among </a:t>
            </a:r>
            <a:r>
              <a:rPr lang="en-US" i="1" dirty="0"/>
              <a:t>returning</a:t>
            </a:r>
            <a:r>
              <a:rPr lang="en-US" dirty="0"/>
              <a:t> plans from bombing runs in WW2.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358535-3386-32DB-7CF1-901DE810AC3A}"/>
              </a:ext>
            </a:extLst>
          </p:cNvPr>
          <p:cNvSpPr/>
          <p:nvPr/>
        </p:nvSpPr>
        <p:spPr>
          <a:xfrm>
            <a:off x="457200" y="5875334"/>
            <a:ext cx="8284464" cy="4203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Returning is success.  So this is the damage pattern for success.</a:t>
            </a:r>
          </a:p>
        </p:txBody>
      </p:sp>
    </p:spTree>
    <p:extLst>
      <p:ext uri="{BB962C8B-B14F-4D97-AF65-F5344CB8AC3E}">
        <p14:creationId xmlns:p14="http://schemas.microsoft.com/office/powerpoint/2010/main" val="3317207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A7225D-1299-FE4F-9E40-0953D516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C4DC88-474E-BA4F-A10E-B08D150D4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9144000" cy="591477"/>
          </a:xfrm>
        </p:spPr>
        <p:txBody>
          <a:bodyPr/>
          <a:lstStyle/>
          <a:p>
            <a:pPr algn="ctr"/>
            <a:r>
              <a:rPr lang="en-US" sz="2400" dirty="0"/>
              <a:t>After you have a good grasp of the problem then comes choosing data.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C0B9F-E72A-7E4A-A17D-E8CC7707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C0E58-3AA3-C54D-992D-64892CFEE1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Kwartler </a:t>
            </a:r>
          </a:p>
        </p:txBody>
      </p:sp>
      <p:pic>
        <p:nvPicPr>
          <p:cNvPr id="1026" name="Picture 2" descr="10 memes that Data Scientists would absolutely love">
            <a:extLst>
              <a:ext uri="{FF2B5EF4-FFF2-40B4-BE49-F238E27FC236}">
                <a16:creationId xmlns:a16="http://schemas.microsoft.com/office/drawing/2014/main" id="{4AA11001-C3EF-0948-A0B7-BBCAA69DF2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1512989"/>
            <a:ext cx="3790681" cy="3642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6 Data Science Memes That Will Make You LOL | by Roman Orac | Medium">
            <a:extLst>
              <a:ext uri="{FF2B5EF4-FFF2-40B4-BE49-F238E27FC236}">
                <a16:creationId xmlns:a16="http://schemas.microsoft.com/office/drawing/2014/main" id="{90A0A4E4-57D6-7842-A671-2B40156CB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769591"/>
            <a:ext cx="3944471" cy="3129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1403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Exploration (EDA)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8</a:t>
            </a:fld>
            <a:endParaRPr lang="en-US"/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914400" y="2057400"/>
            <a:ext cx="7772400" cy="396240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latin typeface="Franklin Gothic Book" pitchFamily="34" charset="0"/>
              </a:rPr>
              <a:t>Data sets are typically large, complex &amp; messy</a:t>
            </a:r>
          </a:p>
          <a:p>
            <a:r>
              <a:rPr lang="en-US" altLang="en-US" dirty="0">
                <a:latin typeface="Franklin Gothic Book" pitchFamily="34" charset="0"/>
              </a:rPr>
              <a:t>Need to review the data to help refine the task</a:t>
            </a:r>
          </a:p>
          <a:p>
            <a:r>
              <a:rPr lang="en-US" altLang="en-US" dirty="0">
                <a:latin typeface="Franklin Gothic Book" pitchFamily="34" charset="0"/>
              </a:rPr>
              <a:t>Use techniques of Reduction/Sampling and Visualization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8F970C7-E7CA-854C-BB06-3B74B9E987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2229453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Exploring Data: Sampling to Save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9</a:t>
            </a:fld>
            <a:endParaRPr lang="en-US"/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914400" y="1981200"/>
            <a:ext cx="7772400" cy="403860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latin typeface="Franklin Gothic Book" pitchFamily="34" charset="0"/>
              </a:rPr>
              <a:t>Data mining typically deals with huge databases</a:t>
            </a:r>
          </a:p>
          <a:p>
            <a:r>
              <a:rPr lang="en-US" altLang="en-US" dirty="0">
                <a:latin typeface="Franklin Gothic Book" pitchFamily="34" charset="0"/>
              </a:rPr>
              <a:t>For piloting/prototyping, algorithms and models are typically applied to a sample from a database, to produce statistically-valid results</a:t>
            </a:r>
          </a:p>
          <a:p>
            <a:r>
              <a:rPr lang="en-US" altLang="en-US" dirty="0">
                <a:latin typeface="Franklin Gothic Book" pitchFamily="34" charset="0"/>
              </a:rPr>
              <a:t>Once you develop and select a final model, you use it to “score” (predict values or classes for) the observations in the larger database</a:t>
            </a:r>
          </a:p>
          <a:p>
            <a:endParaRPr lang="en-US" altLang="en-US" dirty="0">
              <a:latin typeface="Franklin Gothic Book" pitchFamily="34" charset="0"/>
            </a:endParaRPr>
          </a:p>
          <a:p>
            <a:r>
              <a:rPr lang="en-US" altLang="en-US" dirty="0">
                <a:latin typeface="Franklin Gothic Book" pitchFamily="34" charset="0"/>
              </a:rPr>
              <a:t>Caveats – unbalanced data needs “over sampling” </a:t>
            </a:r>
          </a:p>
          <a:p>
            <a:pPr lvl="1"/>
            <a:r>
              <a:rPr lang="en-US" altLang="en-US" dirty="0">
                <a:latin typeface="Franklin Gothic Book" pitchFamily="34" charset="0"/>
              </a:rPr>
              <a:t>Insurance no claim (99%) vs claim (1%)</a:t>
            </a:r>
          </a:p>
          <a:p>
            <a:pPr lvl="1"/>
            <a:r>
              <a:rPr lang="en-US" altLang="en-US" dirty="0">
                <a:latin typeface="Franklin Gothic Book" pitchFamily="34" charset="0"/>
              </a:rPr>
              <a:t>Credit Card Transactions (99+% no fraud) vs (&lt;1% fraud)</a:t>
            </a:r>
          </a:p>
          <a:p>
            <a:pPr lvl="1"/>
            <a:r>
              <a:rPr lang="en-US" altLang="en-US" dirty="0">
                <a:latin typeface="Franklin Gothic Book" pitchFamily="34" charset="0"/>
              </a:rPr>
              <a:t>If your modeling is unbalanced, the book has an example of oversampling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DED3F3E-2BA2-004C-939F-597D2B214E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1995687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78E556-CB57-4148-B330-A08E579FF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90" y="652341"/>
            <a:ext cx="8630193" cy="5904869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28650" y="77739"/>
            <a:ext cx="7886700" cy="591477"/>
          </a:xfrm>
        </p:spPr>
        <p:txBody>
          <a:bodyPr/>
          <a:lstStyle/>
          <a:p>
            <a:r>
              <a:rPr lang="en-US" dirty="0"/>
              <a:t>What’s the value of good EDA?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10</a:t>
            </a:fld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48043" y="4722152"/>
            <a:ext cx="2164375" cy="72941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561951" y="4187396"/>
            <a:ext cx="4177862" cy="89533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Asked to predict the presence of West Nile Virus in Chicago mosquito traps.</a:t>
            </a:r>
          </a:p>
        </p:txBody>
      </p:sp>
      <p:cxnSp>
        <p:nvCxnSpPr>
          <p:cNvPr id="11" name="Straight Arrow Connector 10"/>
          <p:cNvCxnSpPr>
            <a:cxnSpLocks/>
            <a:stCxn id="8" idx="6"/>
            <a:endCxn id="9" idx="1"/>
          </p:cNvCxnSpPr>
          <p:nvPr/>
        </p:nvCxnSpPr>
        <p:spPr>
          <a:xfrm flipV="1">
            <a:off x="2312418" y="4635062"/>
            <a:ext cx="1249533" cy="451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4F549C5-65BB-8540-8764-A13ACD8324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801027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C93968-391B-98B3-6759-CA2265552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3ADED7-6FE8-CD73-8991-695EE67EC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task to predict West Nile Virus in Traps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2B475-75A0-EB42-386A-036FB83E9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08F219-6C1F-1FA7-69FA-78DCDF10B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 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467DA91-EF28-E158-36B6-3F6F5C7DA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0384496"/>
              </p:ext>
            </p:extLst>
          </p:nvPr>
        </p:nvGraphicFramePr>
        <p:xfrm>
          <a:off x="312034" y="1304403"/>
          <a:ext cx="60960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42874901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35630511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36163952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99247389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243152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Humidity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Presence of Virus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8273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6/1/2012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347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5/15/2011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433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5/30/2011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434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7/4/2012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784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7/15/2010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125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6/12/2010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6034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8/3/2012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70656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90F7217-6978-EEC4-F7E5-11B3AFE67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95491"/>
              </p:ext>
            </p:extLst>
          </p:nvPr>
        </p:nvGraphicFramePr>
        <p:xfrm>
          <a:off x="312034" y="4552633"/>
          <a:ext cx="6096000" cy="198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42874901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35630511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36163952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99247389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243152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Humidity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Presence of Virus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8273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6/1/2012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347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7/4/2012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784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7/15/2010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125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8/3/2012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7065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51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let me realize a flaw!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48" y="1138925"/>
            <a:ext cx="6889530" cy="164536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6" y="2942233"/>
            <a:ext cx="7721451" cy="30546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17" y="3595523"/>
            <a:ext cx="6982317" cy="1538601"/>
          </a:xfrm>
          <a:prstGeom prst="rect">
            <a:avLst/>
          </a:prstGeom>
        </p:spPr>
      </p:pic>
      <p:sp>
        <p:nvSpPr>
          <p:cNvPr id="11" name="Explosion 2 10"/>
          <p:cNvSpPr/>
          <p:nvPr/>
        </p:nvSpPr>
        <p:spPr>
          <a:xfrm>
            <a:off x="5044964" y="87152"/>
            <a:ext cx="2435699" cy="1407893"/>
          </a:xfrm>
          <a:prstGeom prst="irregularSeal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Simple EDA by year would show that West Nile was 2x in 2012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890" y="5470634"/>
            <a:ext cx="8860220" cy="56755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After fitting an algorithm, I merely doubled predictions if they were within 2012 for the test set.  Not great DS but an easy way to move up the leaderboard.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03B6BE0C-37E3-1A47-BF6C-FF6A302BD3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16767526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8E941-E8E1-4A22-A057-37BDB077D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1838504"/>
            <a:ext cx="3943350" cy="3975005"/>
          </a:xfrm>
        </p:spPr>
        <p:txBody>
          <a:bodyPr>
            <a:normAutofit/>
          </a:bodyPr>
          <a:lstStyle/>
          <a:p>
            <a:r>
              <a:rPr lang="en-US" dirty="0"/>
              <a:t>Lots of basic R options</a:t>
            </a:r>
          </a:p>
          <a:p>
            <a:pPr lvl="1"/>
            <a:r>
              <a:rPr lang="en-US" dirty="0" err="1"/>
              <a:t>str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dim()</a:t>
            </a:r>
          </a:p>
          <a:p>
            <a:pPr lvl="1"/>
            <a:r>
              <a:rPr lang="en-US" dirty="0"/>
              <a:t>class()</a:t>
            </a:r>
          </a:p>
          <a:p>
            <a:pPr lvl="1"/>
            <a:r>
              <a:rPr lang="en-US" dirty="0"/>
              <a:t>head()</a:t>
            </a:r>
          </a:p>
          <a:p>
            <a:pPr lvl="1"/>
            <a:r>
              <a:rPr lang="en-US" dirty="0" err="1"/>
              <a:t>nlevels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summary()</a:t>
            </a:r>
          </a:p>
          <a:p>
            <a:pPr lvl="1"/>
            <a:r>
              <a:rPr lang="en-US" dirty="0" err="1"/>
              <a:t>cor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unique()</a:t>
            </a:r>
          </a:p>
          <a:p>
            <a:pPr lvl="1"/>
            <a:r>
              <a:rPr lang="en-US" dirty="0"/>
              <a:t>mean()</a:t>
            </a:r>
          </a:p>
          <a:p>
            <a:pPr lvl="1"/>
            <a:r>
              <a:rPr lang="en-US" dirty="0" err="1"/>
              <a:t>colSums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is.na()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A8A2A-BA2A-4F59-BDF1-B1C7549B9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EFC8-4232-4598-94F6-94C0EBAFC469}" type="datetime1">
              <a:rPr lang="en-US" smtClean="0"/>
              <a:t>2/2/26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524C8B-E040-46C3-90CB-4F7DAB9FD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85824" y="1343025"/>
            <a:ext cx="3443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Open B_EDA </a:t>
            </a:r>
            <a:r>
              <a:rPr lang="en-US" sz="2800" dirty="0" err="1"/>
              <a:t>work.R</a:t>
            </a:r>
            <a:r>
              <a:rPr lang="en-US" sz="2800" dirty="0"/>
              <a:t>: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Practice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738E941-E8E1-4A22-A057-37BDB077D3B3}"/>
              </a:ext>
            </a:extLst>
          </p:cNvPr>
          <p:cNvSpPr txBox="1">
            <a:spLocks/>
          </p:cNvSpPr>
          <p:nvPr/>
        </p:nvSpPr>
        <p:spPr>
          <a:xfrm>
            <a:off x="4781550" y="1838504"/>
            <a:ext cx="3943350" cy="30320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Specific packages make life easier</a:t>
            </a:r>
          </a:p>
          <a:p>
            <a:pPr lvl="1"/>
            <a:r>
              <a:rPr lang="en-US" dirty="0"/>
              <a:t>library(</a:t>
            </a:r>
            <a:r>
              <a:rPr lang="en-US" dirty="0" err="1"/>
              <a:t>DataExplorer</a:t>
            </a:r>
            <a:r>
              <a:rPr lang="en-US" dirty="0"/>
              <a:t>)</a:t>
            </a:r>
          </a:p>
          <a:p>
            <a:pPr lvl="2"/>
            <a:r>
              <a:rPr lang="en-US" dirty="0" err="1"/>
              <a:t>plot_str</a:t>
            </a:r>
            <a:r>
              <a:rPr lang="en-US" dirty="0"/>
              <a:t>()</a:t>
            </a:r>
          </a:p>
          <a:p>
            <a:pPr lvl="2"/>
            <a:r>
              <a:rPr lang="en-US" dirty="0" err="1"/>
              <a:t>plot_missing</a:t>
            </a:r>
            <a:r>
              <a:rPr lang="en-US" dirty="0"/>
              <a:t>()</a:t>
            </a:r>
          </a:p>
          <a:p>
            <a:pPr lvl="2"/>
            <a:r>
              <a:rPr lang="en-US" dirty="0" err="1"/>
              <a:t>plot_histogram</a:t>
            </a:r>
            <a:r>
              <a:rPr lang="en-US" dirty="0"/>
              <a:t>()</a:t>
            </a:r>
          </a:p>
          <a:p>
            <a:pPr lvl="2"/>
            <a:r>
              <a:rPr lang="en-US" dirty="0" err="1"/>
              <a:t>plot_density</a:t>
            </a:r>
            <a:r>
              <a:rPr lang="en-US" dirty="0"/>
              <a:t>()</a:t>
            </a:r>
          </a:p>
          <a:p>
            <a:pPr lvl="2"/>
            <a:r>
              <a:rPr lang="en-US" dirty="0" err="1"/>
              <a:t>plot_scatterplot</a:t>
            </a:r>
            <a:r>
              <a:rPr lang="en-US" dirty="0"/>
              <a:t>()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library(</a:t>
            </a:r>
            <a:r>
              <a:rPr lang="en-US" dirty="0" err="1"/>
              <a:t>radiant.data</a:t>
            </a:r>
            <a:r>
              <a:rPr lang="en-US" dirty="0"/>
              <a:t>)</a:t>
            </a:r>
          </a:p>
          <a:p>
            <a:pPr lvl="2"/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689811" y="5566611"/>
            <a:ext cx="7796463" cy="57751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this script you will fill in the object, vector and information into the code scaffold.  Then spend 5-10min exploring the data with </a:t>
            </a:r>
            <a:r>
              <a:rPr lang="en-US" dirty="0" err="1"/>
              <a:t>radiant.data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0EB8855-8953-9748-889E-107674977E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2857741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2/2/26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 , Reading &amp; Homework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t>14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21856" y="994291"/>
            <a:ext cx="8505573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Start Case I in code or with </a:t>
            </a:r>
            <a:r>
              <a:rPr lang="en-US" sz="2400" dirty="0" err="1"/>
              <a:t>Radiant.Data</a:t>
            </a:r>
            <a:r>
              <a:rPr lang="en-US" sz="2400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Read Chapter 3 (if you have the book)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Try the Challenge!</a:t>
            </a:r>
            <a:endParaRPr lang="en-US" sz="2400" dirty="0"/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528CDBF-CE99-7B41-9621-19A933609E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/>
              <a:t>Kwartler </a:t>
            </a:r>
          </a:p>
        </p:txBody>
      </p:sp>
    </p:spTree>
    <p:extLst>
      <p:ext uri="{BB962C8B-B14F-4D97-AF65-F5344CB8AC3E}">
        <p14:creationId xmlns:p14="http://schemas.microsoft.com/office/powerpoint/2010/main" val="2135969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arvard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51C30"/>
      </a:accent1>
      <a:accent2>
        <a:srgbClr val="8C8179"/>
      </a:accent2>
      <a:accent3>
        <a:srgbClr val="293352"/>
      </a:accent3>
      <a:accent4>
        <a:srgbClr val="8996A0"/>
      </a:accent4>
      <a:accent5>
        <a:srgbClr val="BAC5C6"/>
      </a:accent5>
      <a:accent6>
        <a:srgbClr val="4E84C4"/>
      </a:accent6>
      <a:hlink>
        <a:srgbClr val="52854C"/>
      </a:hlink>
      <a:folHlink>
        <a:srgbClr val="E87D1E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24779</TotalTime>
  <Words>884</Words>
  <Application>Microsoft Macintosh PowerPoint</Application>
  <PresentationFormat>On-screen Show (4:3)</PresentationFormat>
  <Paragraphs>214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Franklin Gothic Book</vt:lpstr>
      <vt:lpstr>Office Theme</vt:lpstr>
      <vt:lpstr>Agenda</vt:lpstr>
      <vt:lpstr>Slow down!</vt:lpstr>
      <vt:lpstr>“We want to sell insurance for delayed flights.”</vt:lpstr>
      <vt:lpstr>“We want to predict hospital readmission to improve patient quality of life.”</vt:lpstr>
      <vt:lpstr>“Let’s predict if an employee is likely to be fired to help our HR ops make better hiring decisions.”</vt:lpstr>
      <vt:lpstr>Where should we put extra structural reinforcements?</vt:lpstr>
      <vt:lpstr>After you have a good grasp of the problem then comes choosing data.</vt:lpstr>
      <vt:lpstr>Data Exploration (EDA)</vt:lpstr>
      <vt:lpstr>Exploring Data: Sampling to Save Time</vt:lpstr>
      <vt:lpstr>What’s the value of good EDA?</vt:lpstr>
      <vt:lpstr>The task to predict West Nile Virus in Traps</vt:lpstr>
      <vt:lpstr>EDA let me realize a flaw!</vt:lpstr>
      <vt:lpstr>Let’s Practice</vt:lpstr>
      <vt:lpstr>Housekeeping , Reading &amp; 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Edward Kwartler</dc:creator>
  <cp:lastModifiedBy>Ted Kwartler</cp:lastModifiedBy>
  <cp:revision>145</cp:revision>
  <cp:lastPrinted>2018-07-10T22:02:33Z</cp:lastPrinted>
  <dcterms:created xsi:type="dcterms:W3CDTF">2018-05-11T14:06:45Z</dcterms:created>
  <dcterms:modified xsi:type="dcterms:W3CDTF">2026-02-02T23:39:06Z</dcterms:modified>
</cp:coreProperties>
</file>