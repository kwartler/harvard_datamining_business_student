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9"/>
  </p:notesMasterIdLst>
  <p:handoutMasterIdLst>
    <p:handoutMasterId r:id="rId50"/>
  </p:handoutMasterIdLst>
  <p:sldIdLst>
    <p:sldId id="275" r:id="rId2"/>
    <p:sldId id="287" r:id="rId3"/>
    <p:sldId id="309" r:id="rId4"/>
    <p:sldId id="313" r:id="rId5"/>
    <p:sldId id="315" r:id="rId6"/>
    <p:sldId id="288" r:id="rId7"/>
    <p:sldId id="317" r:id="rId8"/>
    <p:sldId id="314" r:id="rId9"/>
    <p:sldId id="291" r:id="rId10"/>
    <p:sldId id="311" r:id="rId11"/>
    <p:sldId id="282" r:id="rId12"/>
    <p:sldId id="283" r:id="rId13"/>
    <p:sldId id="401" r:id="rId14"/>
    <p:sldId id="402" r:id="rId15"/>
    <p:sldId id="409" r:id="rId16"/>
    <p:sldId id="324" r:id="rId17"/>
    <p:sldId id="284" r:id="rId18"/>
    <p:sldId id="285" r:id="rId19"/>
    <p:sldId id="286" r:id="rId20"/>
    <p:sldId id="294" r:id="rId21"/>
    <p:sldId id="319" r:id="rId22"/>
    <p:sldId id="321" r:id="rId23"/>
    <p:sldId id="296" r:id="rId24"/>
    <p:sldId id="302" r:id="rId25"/>
    <p:sldId id="325" r:id="rId26"/>
    <p:sldId id="405" r:id="rId27"/>
    <p:sldId id="413" r:id="rId28"/>
    <p:sldId id="414" r:id="rId29"/>
    <p:sldId id="328" r:id="rId30"/>
    <p:sldId id="329" r:id="rId31"/>
    <p:sldId id="330" r:id="rId32"/>
    <p:sldId id="326" r:id="rId33"/>
    <p:sldId id="332" r:id="rId34"/>
    <p:sldId id="323" r:id="rId35"/>
    <p:sldId id="335" r:id="rId36"/>
    <p:sldId id="337" r:id="rId37"/>
    <p:sldId id="342" r:id="rId38"/>
    <p:sldId id="338" r:id="rId39"/>
    <p:sldId id="410" r:id="rId40"/>
    <p:sldId id="411" r:id="rId41"/>
    <p:sldId id="340" r:id="rId42"/>
    <p:sldId id="336" r:id="rId43"/>
    <p:sldId id="344" r:id="rId44"/>
    <p:sldId id="345" r:id="rId45"/>
    <p:sldId id="346" r:id="rId46"/>
    <p:sldId id="350" r:id="rId47"/>
    <p:sldId id="348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1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5" autoAdjust="0"/>
    <p:restoredTop sz="85510" autoAdjust="0"/>
  </p:normalViewPr>
  <p:slideViewPr>
    <p:cSldViewPr snapToGrid="0">
      <p:cViewPr varScale="1">
        <p:scale>
          <a:sx n="104" d="100"/>
          <a:sy n="104" d="100"/>
        </p:scale>
        <p:origin x="20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88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082B1-427E-41DB-ABE5-DAB9BFFC394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09448-722B-41B2-BE86-BF6863A17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304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3ABA6-B72D-4ED4-A6E7-13A0DAE65F1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303B9-2C3E-4EA0-A819-58B20A5A8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8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1AF40-8E9D-4388-A598-B39FF32BD9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60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b="1" dirty="0"/>
              <a:t>Level - about 1,800,000 passengers per month</a:t>
            </a:r>
          </a:p>
          <a:p>
            <a:pPr>
              <a:buFont typeface="Wingdings 2" pitchFamily="18" charset="2"/>
              <a:buNone/>
            </a:pPr>
            <a:endParaRPr lang="en-US" b="1" dirty="0"/>
          </a:p>
          <a:p>
            <a:pPr>
              <a:buFont typeface="Wingdings 2" pitchFamily="18" charset="2"/>
              <a:buNone/>
            </a:pPr>
            <a:r>
              <a:rPr lang="en-US" b="1" dirty="0"/>
              <a:t>Appears to have U-shaped trend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1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forecasts</a:t>
            </a:r>
            <a:r>
              <a:rPr lang="en-US" baseline="0" dirty="0"/>
              <a:t> in business: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Supply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life 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Call centers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1AF40-8E9D-4388-A598-B39FF32BD9C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72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Level?</a:t>
            </a:r>
          </a:p>
          <a:p>
            <a:r>
              <a:rPr lang="en-US" dirty="0"/>
              <a:t>Trend?</a:t>
            </a:r>
            <a:r>
              <a:rPr lang="en-US" baseline="0" dirty="0"/>
              <a:t> </a:t>
            </a:r>
          </a:p>
          <a:p>
            <a:r>
              <a:rPr lang="en-US" baseline="0" dirty="0"/>
              <a:t>Pattern?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1AF40-8E9D-4388-A598-B39FF32BD9C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08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1AF40-8E9D-4388-A598-B39FF32BD9C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10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52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Additive – Every quarter</a:t>
            </a:r>
            <a:r>
              <a:rPr lang="en-US" baseline="0" dirty="0"/>
              <a:t> the business grows by $10M</a:t>
            </a:r>
          </a:p>
          <a:p>
            <a:r>
              <a:rPr lang="en-US" baseline="0" dirty="0"/>
              <a:t>Multiplicative – Every quarter the business grows by 10%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17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Amplitude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45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Amplitude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2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Amplitude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C303B9-2C3E-4EA0-A819-58B20A5A846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3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2290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-96</a:t>
            </a:r>
          </a:p>
        </p:txBody>
      </p:sp>
    </p:spTree>
    <p:extLst>
      <p:ext uri="{BB962C8B-B14F-4D97-AF65-F5344CB8AC3E}">
        <p14:creationId xmlns:p14="http://schemas.microsoft.com/office/powerpoint/2010/main" val="104642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1347"/>
            <a:ext cx="788670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66934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3/23/26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60728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256C-8D9A-4404-B47D-41A1AE514425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48122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32519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32519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49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361983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E382-4F61-4E24-BE1A-377EC83D0E3A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52303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3212"/>
            <a:ext cx="4629150" cy="5078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79"/>
            <a:ext cx="2949178" cy="506436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03538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1139483"/>
            <a:ext cx="4629150" cy="502216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1685"/>
            <a:ext cx="2949178" cy="497996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512B-4F1D-43D7-8819-2F53FEF69650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159791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80030"/>
            <a:ext cx="7886700" cy="51206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A29D-D431-42FE-B7B6-AAE4454C77D3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0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09821"/>
            <a:ext cx="1971675" cy="496714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3889"/>
            <a:ext cx="5800725" cy="4953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8A1E-EA8F-46C1-B891-AE0C00D9C314}" type="datetime1">
              <a:rPr lang="en-US" smtClean="0"/>
              <a:t>3/23/26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76533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08176"/>
            <a:ext cx="788670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89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gi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F278-3A5B-44F8-9DCA-4293CA7C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Forecasting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52E92-473C-4CB8-998E-1DCAAAC10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FFD1B-D36D-40D0-A49A-3132AB75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E71AB-0020-4F74-93A4-9D0EA5788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FF79E-1D78-423E-BA08-2C16C5541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609149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9CF12-30E2-42AE-B34C-9BC94FEB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84C2A-4276-4290-A121-0469B815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45EE8-995A-4EDF-98B2-876D4AB98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99D124-A478-4855-982C-0F6EAD9A487E}"/>
              </a:ext>
            </a:extLst>
          </p:cNvPr>
          <p:cNvSpPr txBox="1">
            <a:spLocks/>
          </p:cNvSpPr>
          <p:nvPr/>
        </p:nvSpPr>
        <p:spPr>
          <a:xfrm>
            <a:off x="914400" y="1676400"/>
            <a:ext cx="7772400" cy="43434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Forecast future values of a time series</a:t>
            </a:r>
          </a:p>
          <a:p>
            <a:r>
              <a:rPr lang="en-US" dirty="0"/>
              <a:t>Distinction between forecasting (main focus) and describing/explaining</a:t>
            </a:r>
          </a:p>
          <a:p>
            <a:r>
              <a:rPr lang="en-US" dirty="0"/>
              <a:t>Before forecasting understand “periodicity”</a:t>
            </a:r>
          </a:p>
          <a:p>
            <a:r>
              <a:rPr lang="en-US" dirty="0"/>
              <a:t>Four components of time series (meta-data):</a:t>
            </a:r>
          </a:p>
          <a:p>
            <a:pPr lvl="1">
              <a:buFont typeface="Arial" charset="0"/>
              <a:buChar char="•"/>
            </a:pPr>
            <a:r>
              <a:rPr lang="en-US" dirty="0"/>
              <a:t>Level</a:t>
            </a:r>
          </a:p>
          <a:p>
            <a:pPr lvl="1">
              <a:buFont typeface="Arial" charset="0"/>
              <a:buChar char="•"/>
            </a:pPr>
            <a:r>
              <a:rPr lang="en-US" dirty="0"/>
              <a:t>Trend</a:t>
            </a:r>
          </a:p>
          <a:p>
            <a:pPr lvl="1">
              <a:buFont typeface="Arial" charset="0"/>
              <a:buChar char="•"/>
            </a:pPr>
            <a:r>
              <a:rPr lang="en-US" dirty="0"/>
              <a:t>Seasonality</a:t>
            </a:r>
          </a:p>
          <a:p>
            <a:pPr lvl="1">
              <a:buFont typeface="Arial" charset="0"/>
              <a:buChar char="•"/>
            </a:pPr>
            <a:r>
              <a:rPr lang="en-US" dirty="0"/>
              <a:t>Noise</a:t>
            </a:r>
          </a:p>
          <a:p>
            <a:pPr>
              <a:buFont typeface="Arial" charset="0"/>
              <a:buChar char="•"/>
            </a:pPr>
            <a:r>
              <a:rPr lang="en-US" dirty="0"/>
              <a:t>Time series data is great for enrichment and engineering e.g. “event flags” but can be modeled as a standalone vector due to the meta data </a:t>
            </a:r>
            <a:r>
              <a:rPr lang="en-US" i="1" dirty="0"/>
              <a:t>“inside” </a:t>
            </a:r>
            <a:r>
              <a:rPr lang="en-US" dirty="0"/>
              <a:t>the vector.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693E49-70BD-4C3F-A7E3-57DB09DE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ideas</a:t>
            </a:r>
          </a:p>
        </p:txBody>
      </p:sp>
    </p:spTree>
    <p:extLst>
      <p:ext uri="{BB962C8B-B14F-4D97-AF65-F5344CB8AC3E}">
        <p14:creationId xmlns:p14="http://schemas.microsoft.com/office/powerpoint/2010/main" val="342936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E42EE3-9848-4091-AB32-9CD15445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CF0D48-1409-4FA8-BC35-CEE75BFEF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57" y="365126"/>
            <a:ext cx="8618899" cy="591477"/>
          </a:xfrm>
        </p:spPr>
        <p:txBody>
          <a:bodyPr/>
          <a:lstStyle/>
          <a:p>
            <a:r>
              <a:rPr lang="en-US" sz="2600" dirty="0"/>
              <a:t>Difference between ML Data Setup &amp; Time Series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6DEF1-B7DD-43A0-BF17-9242EB83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28560-6A4E-47D2-9335-23EFE2B93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D1D07-F801-42E5-819D-E8E714D70829}"/>
              </a:ext>
            </a:extLst>
          </p:cNvPr>
          <p:cNvSpPr/>
          <p:nvPr/>
        </p:nvSpPr>
        <p:spPr>
          <a:xfrm>
            <a:off x="280657" y="1520982"/>
            <a:ext cx="8549018" cy="353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ML Data Frame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85DCF-E141-4D39-B06E-9C9C5AF21B3D}"/>
              </a:ext>
            </a:extLst>
          </p:cNvPr>
          <p:cNvSpPr txBox="1"/>
          <p:nvPr/>
        </p:nvSpPr>
        <p:spPr>
          <a:xfrm>
            <a:off x="180644" y="4794235"/>
            <a:ext cx="8963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record is a standalone observation of a phenomena you are trying to predict, classify or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Records have defined attributes for each data row.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time is not interacting between rows </a:t>
            </a:r>
            <a:r>
              <a:rPr lang="en-US" i="1" dirty="0"/>
              <a:t>(or it had not better be) </a:t>
            </a:r>
            <a:r>
              <a:rPr lang="en-US" dirty="0"/>
              <a:t>but is present at the observational row.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85" y="2151757"/>
            <a:ext cx="8539841" cy="13716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342912" y="2200275"/>
            <a:ext cx="0" cy="1457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16200000">
            <a:off x="-365100" y="2771775"/>
            <a:ext cx="1007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Observations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57225" y="3857625"/>
            <a:ext cx="811530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87713" y="3924300"/>
            <a:ext cx="2127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Attributes for each observation</a:t>
            </a:r>
          </a:p>
        </p:txBody>
      </p:sp>
    </p:spTree>
    <p:extLst>
      <p:ext uri="{BB962C8B-B14F-4D97-AF65-F5344CB8AC3E}">
        <p14:creationId xmlns:p14="http://schemas.microsoft.com/office/powerpoint/2010/main" val="274921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E42EE3-9848-4091-AB32-9CD15445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CF0D48-1409-4FA8-BC35-CEE75BFEF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57" y="365126"/>
            <a:ext cx="8618899" cy="591477"/>
          </a:xfrm>
        </p:spPr>
        <p:txBody>
          <a:bodyPr/>
          <a:lstStyle/>
          <a:p>
            <a:r>
              <a:rPr lang="en-US" sz="2600" dirty="0"/>
              <a:t>Difference between ML Data Setup &amp; Time Series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6DEF1-B7DD-43A0-BF17-9242EB83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28560-6A4E-47D2-9335-23EFE2B93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D1D07-F801-42E5-819D-E8E714D70829}"/>
              </a:ext>
            </a:extLst>
          </p:cNvPr>
          <p:cNvSpPr/>
          <p:nvPr/>
        </p:nvSpPr>
        <p:spPr>
          <a:xfrm>
            <a:off x="280657" y="1520982"/>
            <a:ext cx="8549018" cy="353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 Series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85DCF-E141-4D39-B06E-9C9C5AF21B3D}"/>
              </a:ext>
            </a:extLst>
          </p:cNvPr>
          <p:cNvSpPr txBox="1"/>
          <p:nvPr/>
        </p:nvSpPr>
        <p:spPr>
          <a:xfrm>
            <a:off x="2914650" y="2522530"/>
            <a:ext cx="5829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typically (not always) in a single vector with each value being in sequence to the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Attributes may not be present because temporal information is held “within” the vector due to the relatedness of each record.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42912" y="2610111"/>
            <a:ext cx="0" cy="1457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16200000">
            <a:off x="-791819" y="3180179"/>
            <a:ext cx="1860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Time Related Observations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2085975"/>
            <a:ext cx="1381125" cy="30861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1995491" y="2147888"/>
            <a:ext cx="0" cy="14573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1761002" y="2738051"/>
            <a:ext cx="745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Attribute</a:t>
            </a:r>
          </a:p>
        </p:txBody>
      </p:sp>
    </p:spTree>
    <p:extLst>
      <p:ext uri="{BB962C8B-B14F-4D97-AF65-F5344CB8AC3E}">
        <p14:creationId xmlns:p14="http://schemas.microsoft.com/office/powerpoint/2010/main" val="20449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ight Arrow 13"/>
          <p:cNvSpPr/>
          <p:nvPr/>
        </p:nvSpPr>
        <p:spPr>
          <a:xfrm>
            <a:off x="2126588" y="5955268"/>
            <a:ext cx="4890826" cy="30777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26587" y="5955268"/>
            <a:ext cx="489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Times Series Data &gt; Forecast Methodology&gt; Future Values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forecasting?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807" y="2074745"/>
            <a:ext cx="210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Time Series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501152" y="2283424"/>
            <a:ext cx="1527537" cy="3618174"/>
            <a:chOff x="3501152" y="3007086"/>
            <a:chExt cx="1527537" cy="1470197"/>
          </a:xfrm>
        </p:grpSpPr>
        <p:sp>
          <p:nvSpPr>
            <p:cNvPr id="16" name="Chevron 15"/>
            <p:cNvSpPr/>
            <p:nvPr/>
          </p:nvSpPr>
          <p:spPr>
            <a:xfrm>
              <a:off x="3501152" y="3007086"/>
              <a:ext cx="770096" cy="1470197"/>
            </a:xfrm>
            <a:prstGeom prst="chevron">
              <a:avLst>
                <a:gd name="adj" fmla="val 62310"/>
              </a:avLst>
            </a:prstGeom>
            <a:solidFill>
              <a:schemeClr val="accent1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Chevron 16"/>
            <p:cNvSpPr/>
            <p:nvPr/>
          </p:nvSpPr>
          <p:spPr>
            <a:xfrm>
              <a:off x="4258593" y="3007086"/>
              <a:ext cx="770096" cy="1470197"/>
            </a:xfrm>
            <a:prstGeom prst="chevron">
              <a:avLst>
                <a:gd name="adj" fmla="val 62310"/>
              </a:avLst>
            </a:prstGeom>
            <a:solidFill>
              <a:schemeClr val="accent1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Chevron 17"/>
            <p:cNvSpPr/>
            <p:nvPr/>
          </p:nvSpPr>
          <p:spPr>
            <a:xfrm>
              <a:off x="3879872" y="3007086"/>
              <a:ext cx="770096" cy="1470197"/>
            </a:xfrm>
            <a:prstGeom prst="chevron">
              <a:avLst>
                <a:gd name="adj" fmla="val 62310"/>
              </a:avLst>
            </a:prstGeom>
            <a:solidFill>
              <a:schemeClr val="accent1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20" name="Picture 2" descr="C:\Users\n0232877\AppData\Local\Microsoft\Windows\Temporary Internet Files\Content.IE5\FRTMVNL1\Rlogo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175" y="3394973"/>
            <a:ext cx="1363200" cy="103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5451407" y="2134688"/>
            <a:ext cx="2822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Future Forecasted Values</a:t>
            </a:r>
          </a:p>
        </p:txBody>
      </p:sp>
      <p:pic>
        <p:nvPicPr>
          <p:cNvPr id="22533" name="Picture 5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073"/>
          <a:stretch/>
        </p:blipFill>
        <p:spPr bwMode="auto">
          <a:xfrm>
            <a:off x="5983885" y="2428875"/>
            <a:ext cx="1757159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24" y="2402720"/>
            <a:ext cx="18669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40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130" y="4298156"/>
            <a:ext cx="2740668" cy="1645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41" name="Picture 1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0" y="4309348"/>
            <a:ext cx="2740668" cy="1645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71463" y="1243004"/>
            <a:ext cx="8415337" cy="7143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Forecasting is the process of applying mathematical tools on time series data to create future time series values, doesn’t have to explain the reason for observed changes.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2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116060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F93EB-721E-440E-B1E4-0F3176DD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ABDFEA-2E8D-4355-A525-5076AD5F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Vs. Predict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0CA59-1C1D-4B4E-8CB0-3562A01B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C84E1-D2CB-4F12-96DE-2B79FDACA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ED4843-F5A4-48C6-A2BC-D37A038D93CD}"/>
              </a:ext>
            </a:extLst>
          </p:cNvPr>
          <p:cNvSpPr txBox="1">
            <a:spLocks/>
          </p:cNvSpPr>
          <p:nvPr/>
        </p:nvSpPr>
        <p:spPr>
          <a:xfrm>
            <a:off x="685800" y="1347780"/>
            <a:ext cx="7772400" cy="45720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b="1" dirty="0"/>
              <a:t>Explanation</a:t>
            </a:r>
            <a:r>
              <a:rPr lang="en-US" dirty="0"/>
              <a:t> is the goal of “time series </a:t>
            </a:r>
            <a:r>
              <a:rPr lang="en-US" b="1" dirty="0"/>
              <a:t>analysis</a:t>
            </a:r>
            <a:r>
              <a:rPr lang="en-US" dirty="0"/>
              <a:t>”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Models are based on causal argument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Models are not “black-box”</a:t>
            </a:r>
          </a:p>
          <a:p>
            <a:pPr lvl="1">
              <a:buFont typeface="Wingdings 2" pitchFamily="18" charset="2"/>
              <a:buNone/>
            </a:pPr>
            <a:endParaRPr lang="en-US" dirty="0"/>
          </a:p>
          <a:p>
            <a:pPr lvl="1">
              <a:buFont typeface="Wingdings 2" pitchFamily="18" charset="2"/>
              <a:buNone/>
            </a:pPr>
            <a:r>
              <a:rPr lang="en-US" dirty="0"/>
              <a:t>Example Explanations: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 “The housing crisis reduced the expected bank revenue over a 2yr period”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“Inclement weather negatively affected holiday shopping at Target by 5%.”</a:t>
            </a:r>
          </a:p>
          <a:p>
            <a:pPr lvl="1"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b="1" dirty="0"/>
              <a:t>Forecasting</a:t>
            </a:r>
            <a:r>
              <a:rPr lang="en-US" dirty="0"/>
              <a:t> seeks to </a:t>
            </a:r>
            <a:r>
              <a:rPr lang="en-US" b="1" dirty="0"/>
              <a:t>predict</a:t>
            </a:r>
            <a:r>
              <a:rPr lang="en-US" dirty="0"/>
              <a:t> future values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 lvl="1">
              <a:buFont typeface="Wingdings 2" pitchFamily="18" charset="2"/>
              <a:buNone/>
            </a:pPr>
            <a:r>
              <a:rPr lang="en-US" dirty="0"/>
              <a:t>Example outcomes: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 “Next quarter bank revenue is forecasted to rise to $</a:t>
            </a:r>
            <a:r>
              <a:rPr lang="en-US" b="1" u="sng" dirty="0">
                <a:solidFill>
                  <a:schemeClr val="accent6"/>
                </a:solidFill>
              </a:rPr>
              <a:t>XYZ</a:t>
            </a:r>
            <a:r>
              <a:rPr lang="en-US" dirty="0"/>
              <a:t>”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“Wal-Mart’s 3</a:t>
            </a:r>
            <a:r>
              <a:rPr lang="en-US" baseline="30000" dirty="0"/>
              <a:t>rd</a:t>
            </a:r>
            <a:r>
              <a:rPr lang="en-US" dirty="0"/>
              <a:t> quarter revenue will be $</a:t>
            </a:r>
            <a:r>
              <a:rPr lang="en-US" b="1" u="sng" dirty="0">
                <a:solidFill>
                  <a:schemeClr val="accent6"/>
                </a:solidFill>
              </a:rPr>
              <a:t>130B</a:t>
            </a:r>
            <a:r>
              <a:rPr lang="en-US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04376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2C3887-5370-461B-9723-FA8FB02B5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452733-36AC-40C0-A10C-890FD418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 inside the time series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AF1B6-DEDE-4ECF-96D8-2BA98C5E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C4817-070D-4782-935E-C73E380E1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23FFBD-8391-4A87-80CE-BABAEAA54264}"/>
              </a:ext>
            </a:extLst>
          </p:cNvPr>
          <p:cNvSpPr txBox="1">
            <a:spLocks/>
          </p:cNvSpPr>
          <p:nvPr/>
        </p:nvSpPr>
        <p:spPr>
          <a:xfrm>
            <a:off x="628650" y="1526263"/>
            <a:ext cx="8129588" cy="439019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b="1" dirty="0"/>
              <a:t>Level </a:t>
            </a:r>
            <a:r>
              <a:rPr lang="en-US" dirty="0"/>
              <a:t>– an average of the observations “steady state”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EE5A5B-AF0E-E348-919E-17978B11DDE8}"/>
              </a:ext>
            </a:extLst>
          </p:cNvPr>
          <p:cNvSpPr txBox="1">
            <a:spLocks/>
          </p:cNvSpPr>
          <p:nvPr/>
        </p:nvSpPr>
        <p:spPr>
          <a:xfrm>
            <a:off x="628650" y="2551588"/>
            <a:ext cx="8129588" cy="59147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b="1" dirty="0"/>
              <a:t>Trend </a:t>
            </a:r>
            <a:r>
              <a:rPr lang="en-US" dirty="0"/>
              <a:t>– are values increasing, decreasing or stationary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7D42F0-1835-964E-AB15-240A59C8DDB2}"/>
              </a:ext>
            </a:extLst>
          </p:cNvPr>
          <p:cNvSpPr txBox="1">
            <a:spLocks/>
          </p:cNvSpPr>
          <p:nvPr/>
        </p:nvSpPr>
        <p:spPr>
          <a:xfrm>
            <a:off x="628650" y="3729371"/>
            <a:ext cx="8129588" cy="5992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b="1" dirty="0"/>
              <a:t>Seasonality </a:t>
            </a:r>
            <a:r>
              <a:rPr lang="en-US" dirty="0"/>
              <a:t>– is there a repeating pattern in the periodicity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1D24B8-DFD0-2843-A6F8-21A3CD8011BA}"/>
              </a:ext>
            </a:extLst>
          </p:cNvPr>
          <p:cNvSpPr txBox="1">
            <a:spLocks/>
          </p:cNvSpPr>
          <p:nvPr/>
        </p:nvSpPr>
        <p:spPr>
          <a:xfrm>
            <a:off x="628650" y="4860987"/>
            <a:ext cx="8129588" cy="1024614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</a:pPr>
            <a:r>
              <a:rPr lang="en-US" b="1" dirty="0"/>
              <a:t>Noise – </a:t>
            </a:r>
            <a:r>
              <a:rPr lang="en-US" dirty="0"/>
              <a:t>unexplained values or “residuals” from adding “trend”, “seasonality” and “level” together.  Basically its what left, and unaccounted for.</a:t>
            </a:r>
          </a:p>
        </p:txBody>
      </p:sp>
    </p:spTree>
    <p:extLst>
      <p:ext uri="{BB962C8B-B14F-4D97-AF65-F5344CB8AC3E}">
        <p14:creationId xmlns:p14="http://schemas.microsoft.com/office/powerpoint/2010/main" val="316879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6CF81-18DA-4882-8542-7FA528C6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4E3173-1F1E-4CF3-A763-737C0F4A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Amtrak Actual Riders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D43DA-DA54-4A2F-AFA1-93EE114D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1643D-3082-4F21-9828-946838B0D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878E9-7B9E-4E44-B365-5CC9BC94906B}"/>
              </a:ext>
            </a:extLst>
          </p:cNvPr>
          <p:cNvSpPr txBox="1"/>
          <p:nvPr/>
        </p:nvSpPr>
        <p:spPr>
          <a:xfrm>
            <a:off x="5472569" y="1828798"/>
            <a:ext cx="14702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Level?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Trend?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Seasonality?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Noise?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9F30B6-F781-4F9F-A682-E0BD1E45F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49" y="1396638"/>
            <a:ext cx="4955629" cy="4581619"/>
          </a:xfrm>
          <a:prstGeom prst="rect">
            <a:avLst/>
          </a:prstGeom>
        </p:spPr>
      </p:pic>
      <p:pic>
        <p:nvPicPr>
          <p:cNvPr id="14338" name="Picture 2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536" y="3090864"/>
            <a:ext cx="2848801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429251" y="1428751"/>
            <a:ext cx="3171825" cy="4143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do we observe?</a:t>
            </a:r>
          </a:p>
        </p:txBody>
      </p:sp>
    </p:spTree>
    <p:extLst>
      <p:ext uri="{BB962C8B-B14F-4D97-AF65-F5344CB8AC3E}">
        <p14:creationId xmlns:p14="http://schemas.microsoft.com/office/powerpoint/2010/main" val="1538653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6CF81-18DA-4882-8542-7FA528C6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4E3173-1F1E-4CF3-A763-737C0F4A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Amtrak Actuals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D43DA-DA54-4A2F-AFA1-93EE114D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1643D-3082-4F21-9828-946838B0D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878E9-7B9E-4E44-B365-5CC9BC94906B}"/>
              </a:ext>
            </a:extLst>
          </p:cNvPr>
          <p:cNvSpPr txBox="1"/>
          <p:nvPr/>
        </p:nvSpPr>
        <p:spPr>
          <a:xfrm>
            <a:off x="6029782" y="2743200"/>
            <a:ext cx="22326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 we observe?</a:t>
            </a:r>
          </a:p>
          <a:p>
            <a:r>
              <a:rPr lang="en-US" b="1" u="sng" dirty="0">
                <a:solidFill>
                  <a:schemeClr val="accent6"/>
                </a:solidFill>
              </a:rPr>
              <a:t>Level</a:t>
            </a:r>
            <a:r>
              <a:rPr lang="en-US" dirty="0"/>
              <a:t>?</a:t>
            </a:r>
          </a:p>
          <a:p>
            <a:r>
              <a:rPr lang="en-US" dirty="0"/>
              <a:t>Trend?</a:t>
            </a:r>
          </a:p>
          <a:p>
            <a:r>
              <a:rPr lang="en-US" dirty="0"/>
              <a:t>Seasonality?</a:t>
            </a:r>
          </a:p>
          <a:p>
            <a:r>
              <a:rPr lang="en-US" dirty="0"/>
              <a:t>Noise?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079329-3AED-4937-A9A0-10ED9AC598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07"/>
          <a:stretch/>
        </p:blipFill>
        <p:spPr>
          <a:xfrm>
            <a:off x="434024" y="1284295"/>
            <a:ext cx="5189851" cy="47443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EA3FA0-9805-6639-F4A0-F326092BBB59}"/>
              </a:ext>
            </a:extLst>
          </p:cNvPr>
          <p:cNvSpPr/>
          <p:nvPr/>
        </p:nvSpPr>
        <p:spPr>
          <a:xfrm>
            <a:off x="5738172" y="1428751"/>
            <a:ext cx="3171825" cy="4143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do we observe?</a:t>
            </a:r>
          </a:p>
        </p:txBody>
      </p:sp>
    </p:spTree>
    <p:extLst>
      <p:ext uri="{BB962C8B-B14F-4D97-AF65-F5344CB8AC3E}">
        <p14:creationId xmlns:p14="http://schemas.microsoft.com/office/powerpoint/2010/main" val="316941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6CF81-18DA-4882-8542-7FA528C6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4E3173-1F1E-4CF3-A763-737C0F4A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Amtrak Actuals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D43DA-DA54-4A2F-AFA1-93EE114D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1643D-3082-4F21-9828-946838B0D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878E9-7B9E-4E44-B365-5CC9BC94906B}"/>
              </a:ext>
            </a:extLst>
          </p:cNvPr>
          <p:cNvSpPr txBox="1"/>
          <p:nvPr/>
        </p:nvSpPr>
        <p:spPr>
          <a:xfrm>
            <a:off x="6029782" y="2743200"/>
            <a:ext cx="22326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 we observe?</a:t>
            </a:r>
          </a:p>
          <a:p>
            <a:r>
              <a:rPr lang="en-US" dirty="0"/>
              <a:t>Level?</a:t>
            </a:r>
          </a:p>
          <a:p>
            <a:r>
              <a:rPr lang="en-US" b="1" u="sng" dirty="0">
                <a:solidFill>
                  <a:schemeClr val="accent6"/>
                </a:solidFill>
              </a:rPr>
              <a:t>Trend</a:t>
            </a:r>
            <a:r>
              <a:rPr lang="en-US" dirty="0"/>
              <a:t>?</a:t>
            </a:r>
          </a:p>
          <a:p>
            <a:r>
              <a:rPr lang="en-US" dirty="0"/>
              <a:t>Seasonality?</a:t>
            </a:r>
          </a:p>
          <a:p>
            <a:r>
              <a:rPr lang="en-US" dirty="0"/>
              <a:t>Noise?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9F30B6-F781-4F9F-A682-E0BD1E45F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99" y="1439500"/>
            <a:ext cx="4955629" cy="458161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6B1A81-D206-4C60-A13A-401B148C6F40}"/>
              </a:ext>
            </a:extLst>
          </p:cNvPr>
          <p:cNvCxnSpPr/>
          <p:nvPr/>
        </p:nvCxnSpPr>
        <p:spPr>
          <a:xfrm>
            <a:off x="1430448" y="2924269"/>
            <a:ext cx="1702051" cy="1484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24CA85-364D-4FE3-A5DF-7C92F07D1214}"/>
              </a:ext>
            </a:extLst>
          </p:cNvPr>
          <p:cNvCxnSpPr/>
          <p:nvPr/>
        </p:nvCxnSpPr>
        <p:spPr>
          <a:xfrm flipV="1">
            <a:off x="3268301" y="2534970"/>
            <a:ext cx="2190939" cy="1756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5A8B334-D4D0-E22A-F1E9-9EC7BE3CBD6C}"/>
              </a:ext>
            </a:extLst>
          </p:cNvPr>
          <p:cNvSpPr/>
          <p:nvPr/>
        </p:nvSpPr>
        <p:spPr>
          <a:xfrm>
            <a:off x="5738172" y="1428751"/>
            <a:ext cx="3171825" cy="4143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do we observe?</a:t>
            </a:r>
          </a:p>
        </p:txBody>
      </p:sp>
    </p:spTree>
    <p:extLst>
      <p:ext uri="{BB962C8B-B14F-4D97-AF65-F5344CB8AC3E}">
        <p14:creationId xmlns:p14="http://schemas.microsoft.com/office/powerpoint/2010/main" val="1691030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 to 3 years (1997-1999)</a:t>
            </a:r>
          </a:p>
        </p:txBody>
      </p:sp>
      <p:sp>
        <p:nvSpPr>
          <p:cNvPr id="12291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7772400" cy="4038600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b="1" dirty="0"/>
              <a:t>Seasonality* appears when zoomed in: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Each year traffic peaks in summer</a:t>
            </a:r>
          </a:p>
          <a:p>
            <a:pPr lvl="1"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b="1" dirty="0"/>
              <a:t>Noise: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Departure from the general level that is neither trend nor seasonality</a:t>
            </a:r>
          </a:p>
          <a:p>
            <a:pPr lvl="1">
              <a:buFont typeface="Wingdings 2" pitchFamily="18" charset="2"/>
              <a:buNone/>
            </a:pPr>
            <a:r>
              <a:rPr lang="en-US" dirty="0"/>
              <a:t>Put another way, if you add (sometimes multiply) the seasonal, trend and level values, the difference is the “noise” 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dirty="0"/>
              <a:t>* </a:t>
            </a:r>
            <a:r>
              <a:rPr lang="en-US" sz="2000" dirty="0"/>
              <a:t>Don’t confuse the time series term </a:t>
            </a:r>
            <a:r>
              <a:rPr lang="en-US" dirty="0"/>
              <a:t>“</a:t>
            </a:r>
            <a:r>
              <a:rPr lang="en-US" sz="2000" dirty="0"/>
              <a:t>season,” which is the period over which a cyclical pattern repeats (e.g. a year), with the standard English seasons of the year (fall, winter, etc.)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007103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1695579" y="1125181"/>
            <a:ext cx="5773575" cy="4365665"/>
            <a:chOff x="152524" y="1439500"/>
            <a:chExt cx="5334051" cy="403331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A72F1A8-6303-4C5B-829A-D5D8B8D0A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524" y="1439500"/>
              <a:ext cx="5334051" cy="4033319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11CEEC-FA26-4A6F-8495-0972C5118DCA}"/>
                </a:ext>
              </a:extLst>
            </p:cNvPr>
            <p:cNvSpPr/>
            <p:nvPr/>
          </p:nvSpPr>
          <p:spPr>
            <a:xfrm>
              <a:off x="453793" y="4291343"/>
              <a:ext cx="470780" cy="506994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ACB0B4D-22F3-4F5C-8250-3471DC522CAA}"/>
                </a:ext>
              </a:extLst>
            </p:cNvPr>
            <p:cNvSpPr/>
            <p:nvPr/>
          </p:nvSpPr>
          <p:spPr>
            <a:xfrm>
              <a:off x="2656587" y="4291343"/>
              <a:ext cx="470780" cy="506994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5E2F94F-6FB8-42DE-B256-73C9C45C50FA}"/>
                </a:ext>
              </a:extLst>
            </p:cNvPr>
            <p:cNvSpPr/>
            <p:nvPr/>
          </p:nvSpPr>
          <p:spPr>
            <a:xfrm>
              <a:off x="4924696" y="3882429"/>
              <a:ext cx="470780" cy="506994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91B942D-3A76-4E99-B8FE-8017F665948F}"/>
              </a:ext>
            </a:extLst>
          </p:cNvPr>
          <p:cNvSpPr txBox="1"/>
          <p:nvPr/>
        </p:nvSpPr>
        <p:spPr>
          <a:xfrm>
            <a:off x="3043238" y="5689395"/>
            <a:ext cx="305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Decline in Jan/Feb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Zoom to 3 years (1997-1999)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71475" y="5614988"/>
            <a:ext cx="82010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2486025" y="4857750"/>
            <a:ext cx="657225" cy="101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429125" y="4814888"/>
            <a:ext cx="0" cy="871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000625" y="4386263"/>
            <a:ext cx="1900238" cy="1514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14</a:t>
            </a:r>
          </a:p>
        </p:txBody>
      </p:sp>
      <p:sp>
        <p:nvSpPr>
          <p:cNvPr id="1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113657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1695579" y="1125181"/>
            <a:ext cx="5773575" cy="4365665"/>
            <a:chOff x="152524" y="1439500"/>
            <a:chExt cx="5334051" cy="403331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A72F1A8-6303-4C5B-829A-D5D8B8D0A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524" y="1439500"/>
              <a:ext cx="5334051" cy="4033319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52D27B2-1D9E-441F-BDC5-3DD825C7C45E}"/>
                </a:ext>
              </a:extLst>
            </p:cNvPr>
            <p:cNvSpPr/>
            <p:nvPr/>
          </p:nvSpPr>
          <p:spPr>
            <a:xfrm>
              <a:off x="843197" y="2881544"/>
              <a:ext cx="224397" cy="450131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286D24-7939-45C7-A62F-4615E026705B}"/>
                </a:ext>
              </a:extLst>
            </p:cNvPr>
            <p:cNvSpPr/>
            <p:nvPr/>
          </p:nvSpPr>
          <p:spPr>
            <a:xfrm>
              <a:off x="3031014" y="2529548"/>
              <a:ext cx="306951" cy="335873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91B942D-3A76-4E99-B8FE-8017F665948F}"/>
              </a:ext>
            </a:extLst>
          </p:cNvPr>
          <p:cNvSpPr txBox="1"/>
          <p:nvPr/>
        </p:nvSpPr>
        <p:spPr>
          <a:xfrm>
            <a:off x="3043238" y="5689395"/>
            <a:ext cx="305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Increase in Mar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Zoom to 3 years (1997-1999)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71475" y="5614988"/>
            <a:ext cx="82010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2571750" y="2943225"/>
            <a:ext cx="585789" cy="2914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714875" y="2619375"/>
            <a:ext cx="295275" cy="3267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15</a:t>
            </a:r>
          </a:p>
        </p:txBody>
      </p:sp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56A4AD-7DD2-D241-95BF-48B926EAF072}"/>
              </a:ext>
            </a:extLst>
          </p:cNvPr>
          <p:cNvSpPr/>
          <p:nvPr/>
        </p:nvSpPr>
        <p:spPr>
          <a:xfrm>
            <a:off x="7184342" y="1995224"/>
            <a:ext cx="332244" cy="36354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37615B-BB2E-7147-856A-4B884392D9E9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4712677" y="2358773"/>
            <a:ext cx="2637787" cy="3509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813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1695579" y="1125181"/>
            <a:ext cx="5773575" cy="4365665"/>
            <a:chOff x="152524" y="1439500"/>
            <a:chExt cx="5334051" cy="403331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A72F1A8-6303-4C5B-829A-D5D8B8D0A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524" y="1439500"/>
              <a:ext cx="5334051" cy="4033319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52D27B2-1D9E-441F-BDC5-3DD825C7C45E}"/>
                </a:ext>
              </a:extLst>
            </p:cNvPr>
            <p:cNvSpPr/>
            <p:nvPr/>
          </p:nvSpPr>
          <p:spPr>
            <a:xfrm>
              <a:off x="723888" y="2525917"/>
              <a:ext cx="1332368" cy="805758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286D24-7939-45C7-A62F-4615E026705B}"/>
                </a:ext>
              </a:extLst>
            </p:cNvPr>
            <p:cNvSpPr/>
            <p:nvPr/>
          </p:nvSpPr>
          <p:spPr>
            <a:xfrm>
              <a:off x="3031013" y="1765426"/>
              <a:ext cx="1252396" cy="1099996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91B942D-3A76-4E99-B8FE-8017F665948F}"/>
              </a:ext>
            </a:extLst>
          </p:cNvPr>
          <p:cNvSpPr txBox="1"/>
          <p:nvPr/>
        </p:nvSpPr>
        <p:spPr>
          <a:xfrm>
            <a:off x="3043238" y="5689395"/>
            <a:ext cx="305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Sustained increase until Aug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Zoom to 3 years (1997-1999)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71475" y="5614988"/>
            <a:ext cx="82010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043239" y="3257550"/>
            <a:ext cx="145129" cy="2589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872789" y="2700338"/>
            <a:ext cx="685049" cy="3026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16</a:t>
            </a:r>
          </a:p>
        </p:txBody>
      </p:sp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1548329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1695579" y="1125181"/>
            <a:ext cx="5773575" cy="4365665"/>
            <a:chOff x="152524" y="1439500"/>
            <a:chExt cx="5334051" cy="403331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A72F1A8-6303-4C5B-829A-D5D8B8D0A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524" y="1439500"/>
              <a:ext cx="5334051" cy="4033319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52D27B2-1D9E-441F-BDC5-3DD825C7C45E}"/>
                </a:ext>
              </a:extLst>
            </p:cNvPr>
            <p:cNvSpPr/>
            <p:nvPr/>
          </p:nvSpPr>
          <p:spPr>
            <a:xfrm>
              <a:off x="1819984" y="2525917"/>
              <a:ext cx="501594" cy="2348802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286D24-7939-45C7-A62F-4615E026705B}"/>
                </a:ext>
              </a:extLst>
            </p:cNvPr>
            <p:cNvSpPr/>
            <p:nvPr/>
          </p:nvSpPr>
          <p:spPr>
            <a:xfrm>
              <a:off x="4007801" y="1818224"/>
              <a:ext cx="412551" cy="1855309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91B942D-3A76-4E99-B8FE-8017F665948F}"/>
              </a:ext>
            </a:extLst>
          </p:cNvPr>
          <p:cNvSpPr txBox="1"/>
          <p:nvPr/>
        </p:nvSpPr>
        <p:spPr>
          <a:xfrm>
            <a:off x="3043238" y="5689395"/>
            <a:ext cx="305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Drops after August</a:t>
            </a:r>
          </a:p>
        </p:txBody>
      </p:sp>
      <p:sp>
        <p:nvSpPr>
          <p:cNvPr id="13" name="Title 2"/>
          <p:cNvSpPr txBox="1">
            <a:spLocks/>
          </p:cNvSpPr>
          <p:nvPr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Zoom to 3 years (1997-1999)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71475" y="5614988"/>
            <a:ext cx="82010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endCxn id="4" idx="2"/>
          </p:cNvCxnSpPr>
          <p:nvPr/>
        </p:nvCxnSpPr>
        <p:spPr>
          <a:xfrm flipV="1">
            <a:off x="3188369" y="4843463"/>
            <a:ext cx="583531" cy="1003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endCxn id="9" idx="2"/>
          </p:cNvCxnSpPr>
          <p:nvPr/>
        </p:nvCxnSpPr>
        <p:spPr>
          <a:xfrm flipV="1">
            <a:off x="4872789" y="3543299"/>
            <a:ext cx="1219014" cy="218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16</a:t>
            </a:r>
          </a:p>
        </p:txBody>
      </p:sp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755769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A_amtrak.R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8463" y="2189747"/>
            <a:ext cx="20427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Series Basics </a:t>
            </a:r>
          </a:p>
          <a:p>
            <a:r>
              <a:rPr lang="en-US" dirty="0"/>
              <a:t>Dynamic Plotting</a:t>
            </a:r>
          </a:p>
          <a:p>
            <a:r>
              <a:rPr lang="en-US" dirty="0" err="1"/>
              <a:t>Lubridate</a:t>
            </a:r>
            <a:r>
              <a:rPr lang="en-US" dirty="0"/>
              <a:t>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463" y="1600200"/>
            <a:ext cx="1488677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Let’s Practice!</a:t>
            </a:r>
          </a:p>
        </p:txBody>
      </p:sp>
    </p:spTree>
    <p:extLst>
      <p:ext uri="{BB962C8B-B14F-4D97-AF65-F5344CB8AC3E}">
        <p14:creationId xmlns:p14="http://schemas.microsoft.com/office/powerpoint/2010/main" val="602419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Partitioning	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114420"/>
            <a:ext cx="7772400" cy="685805"/>
          </a:xfrm>
        </p:spPr>
        <p:txBody>
          <a:bodyPr>
            <a:normAutofit fontScale="92500" lnSpcReduction="10000"/>
          </a:bodyPr>
          <a:lstStyle/>
          <a:p>
            <a:pPr>
              <a:buFont typeface="Wingdings 2" pitchFamily="18" charset="2"/>
              <a:buNone/>
            </a:pPr>
            <a:r>
              <a:rPr lang="en-US" dirty="0"/>
              <a:t>Divide data into training portion and validation portion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Test model on the validation portion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b="1" dirty="0"/>
          </a:p>
          <a:p>
            <a:pPr>
              <a:buFont typeface="Wingdings 2" pitchFamily="18" charset="2"/>
              <a:buNone/>
            </a:pP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288381" y="1838325"/>
            <a:ext cx="4567238" cy="4491048"/>
            <a:chOff x="2293158" y="1838325"/>
            <a:chExt cx="4567238" cy="4491048"/>
          </a:xfrm>
        </p:grpSpPr>
        <p:sp>
          <p:nvSpPr>
            <p:cNvPr id="4" name="Flowchart: Magnetic Disk 3"/>
            <p:cNvSpPr/>
            <p:nvPr/>
          </p:nvSpPr>
          <p:spPr>
            <a:xfrm>
              <a:off x="2293158" y="5719772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lowchart: Magnetic Disk 4"/>
            <p:cNvSpPr/>
            <p:nvPr/>
          </p:nvSpPr>
          <p:spPr>
            <a:xfrm>
              <a:off x="2293158" y="5295381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Flowchart: Magnetic Disk 5"/>
            <p:cNvSpPr/>
            <p:nvPr/>
          </p:nvSpPr>
          <p:spPr>
            <a:xfrm>
              <a:off x="2293158" y="4870988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lowchart: Magnetic Disk 6"/>
            <p:cNvSpPr/>
            <p:nvPr/>
          </p:nvSpPr>
          <p:spPr>
            <a:xfrm>
              <a:off x="2293158" y="4446595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lowchart: Magnetic Disk 7"/>
            <p:cNvSpPr/>
            <p:nvPr/>
          </p:nvSpPr>
          <p:spPr>
            <a:xfrm>
              <a:off x="2293158" y="4022202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lowchart: Magnetic Disk 8"/>
            <p:cNvSpPr/>
            <p:nvPr/>
          </p:nvSpPr>
          <p:spPr>
            <a:xfrm>
              <a:off x="2293158" y="3597809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lowchart: Magnetic Disk 9"/>
            <p:cNvSpPr/>
            <p:nvPr/>
          </p:nvSpPr>
          <p:spPr>
            <a:xfrm>
              <a:off x="2293158" y="3173416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lowchart: Magnetic Disk 10"/>
            <p:cNvSpPr/>
            <p:nvPr/>
          </p:nvSpPr>
          <p:spPr>
            <a:xfrm>
              <a:off x="2293158" y="2749023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lowchart: Magnetic Disk 11"/>
            <p:cNvSpPr/>
            <p:nvPr/>
          </p:nvSpPr>
          <p:spPr>
            <a:xfrm>
              <a:off x="2293158" y="2324630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lowchart: Magnetic Disk 12"/>
            <p:cNvSpPr/>
            <p:nvPr/>
          </p:nvSpPr>
          <p:spPr>
            <a:xfrm>
              <a:off x="2293158" y="1900237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71801" y="4043363"/>
              <a:ext cx="912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All Data</a:t>
              </a:r>
            </a:p>
          </p:txBody>
        </p:sp>
        <p:sp>
          <p:nvSpPr>
            <p:cNvPr id="15" name="Isosceles Triangle 14"/>
            <p:cNvSpPr/>
            <p:nvPr/>
          </p:nvSpPr>
          <p:spPr>
            <a:xfrm rot="5400000">
              <a:off x="3014677" y="4071937"/>
              <a:ext cx="3186112" cy="300038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Magnetic Disk 15"/>
            <p:cNvSpPr/>
            <p:nvPr/>
          </p:nvSpPr>
          <p:spPr>
            <a:xfrm>
              <a:off x="4860146" y="5657860"/>
              <a:ext cx="2000250" cy="609601"/>
            </a:xfrm>
            <a:prstGeom prst="flowChartMagneticDisk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lowchart: Magnetic Disk 16"/>
            <p:cNvSpPr/>
            <p:nvPr/>
          </p:nvSpPr>
          <p:spPr>
            <a:xfrm>
              <a:off x="4860146" y="5233469"/>
              <a:ext cx="2000250" cy="609601"/>
            </a:xfrm>
            <a:prstGeom prst="flowChartMagneticDisk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lowchart: Magnetic Disk 17"/>
            <p:cNvSpPr/>
            <p:nvPr/>
          </p:nvSpPr>
          <p:spPr>
            <a:xfrm>
              <a:off x="4860146" y="4809076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lowchart: Magnetic Disk 18"/>
            <p:cNvSpPr/>
            <p:nvPr/>
          </p:nvSpPr>
          <p:spPr>
            <a:xfrm>
              <a:off x="4860146" y="4384683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lowchart: Magnetic Disk 19"/>
            <p:cNvSpPr/>
            <p:nvPr/>
          </p:nvSpPr>
          <p:spPr>
            <a:xfrm>
              <a:off x="4860146" y="3960290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lowchart: Magnetic Disk 20"/>
            <p:cNvSpPr/>
            <p:nvPr/>
          </p:nvSpPr>
          <p:spPr>
            <a:xfrm>
              <a:off x="4860146" y="3535897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lowchart: Magnetic Disk 21"/>
            <p:cNvSpPr/>
            <p:nvPr/>
          </p:nvSpPr>
          <p:spPr>
            <a:xfrm>
              <a:off x="4860146" y="3111504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lowchart: Magnetic Disk 22"/>
            <p:cNvSpPr/>
            <p:nvPr/>
          </p:nvSpPr>
          <p:spPr>
            <a:xfrm>
              <a:off x="4860146" y="2687111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lowchart: Magnetic Disk 23"/>
            <p:cNvSpPr/>
            <p:nvPr/>
          </p:nvSpPr>
          <p:spPr>
            <a:xfrm>
              <a:off x="4860146" y="2262718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lowchart: Magnetic Disk 24"/>
            <p:cNvSpPr/>
            <p:nvPr/>
          </p:nvSpPr>
          <p:spPr>
            <a:xfrm>
              <a:off x="4860146" y="1838325"/>
              <a:ext cx="2000250" cy="609601"/>
            </a:xfrm>
            <a:prstGeom prst="flowChartMagneticDisk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38751" y="3895726"/>
              <a:ext cx="1468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Training Data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19739" y="5619751"/>
              <a:ext cx="1044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Test Data</a:t>
              </a:r>
            </a:p>
          </p:txBody>
        </p:sp>
      </p:grpSp>
      <p:sp>
        <p:nvSpPr>
          <p:cNvPr id="29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18</a:t>
            </a:r>
          </a:p>
        </p:txBody>
      </p:sp>
      <p:sp>
        <p:nvSpPr>
          <p:cNvPr id="3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607303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Partitioning is not random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2250830" y="1998450"/>
            <a:ext cx="6712267" cy="3303491"/>
          </a:xfrm>
        </p:spPr>
        <p:txBody>
          <a:bodyPr>
            <a:normAutofit/>
          </a:bodyPr>
          <a:lstStyle/>
          <a:p>
            <a:r>
              <a:rPr lang="en-US" sz="2000" b="1" dirty="0"/>
              <a:t>Random partitioning would leave holes in the data, which causes problems</a:t>
            </a:r>
          </a:p>
          <a:p>
            <a:pPr lvl="1">
              <a:buFont typeface="Wingdings 2" pitchFamily="18" charset="2"/>
              <a:buNone/>
            </a:pPr>
            <a:r>
              <a:rPr lang="en-US" sz="1600" dirty="0"/>
              <a:t>Forecasting methods assume regular sequential data</a:t>
            </a:r>
          </a:p>
          <a:p>
            <a:r>
              <a:rPr lang="en-US" sz="2000" b="1" dirty="0"/>
              <a:t>Instead of random selection, divide data into two parts</a:t>
            </a:r>
          </a:p>
          <a:p>
            <a:pPr lvl="1">
              <a:buFont typeface="Wingdings 2" pitchFamily="18" charset="2"/>
              <a:buNone/>
            </a:pPr>
            <a:r>
              <a:rPr lang="en-US" sz="1600" dirty="0"/>
              <a:t>Train on early data</a:t>
            </a:r>
          </a:p>
          <a:p>
            <a:pPr lvl="1">
              <a:buFont typeface="Wingdings 2" pitchFamily="18" charset="2"/>
              <a:buNone/>
            </a:pPr>
            <a:r>
              <a:rPr lang="en-US" sz="1600" dirty="0"/>
              <a:t>Validate on later data</a:t>
            </a:r>
          </a:p>
          <a:p>
            <a:pPr marL="114300" lvl="1" indent="-114300"/>
            <a:r>
              <a:rPr lang="en-US" sz="2000" b="1" dirty="0"/>
              <a:t>Performance can be assessed against the “naïve benchmark” &amp; historical accuracy </a:t>
            </a:r>
            <a:r>
              <a:rPr lang="en-US" sz="1600" dirty="0"/>
              <a:t> </a:t>
            </a:r>
            <a:r>
              <a:rPr lang="en-US" sz="1600" i="1" dirty="0"/>
              <a:t>naïve forecast </a:t>
            </a:r>
            <a:r>
              <a:rPr lang="en-US" sz="1600" dirty="0"/>
              <a:t>is simply the most recent value in the time series </a:t>
            </a:r>
          </a:p>
          <a:p>
            <a:pPr lvl="1">
              <a:buFont typeface="Wingdings 2" pitchFamily="18" charset="2"/>
              <a:buNone/>
            </a:pPr>
            <a:endParaRPr lang="en-US" sz="1600" dirty="0"/>
          </a:p>
        </p:txBody>
      </p:sp>
      <p:grpSp>
        <p:nvGrpSpPr>
          <p:cNvPr id="7" name="Group 6"/>
          <p:cNvGrpSpPr/>
          <p:nvPr/>
        </p:nvGrpSpPr>
        <p:grpSpPr>
          <a:xfrm rot="5400000">
            <a:off x="-1226298" y="3141897"/>
            <a:ext cx="5070649" cy="1358267"/>
            <a:chOff x="742950" y="4288805"/>
            <a:chExt cx="7562851" cy="1358267"/>
          </a:xfrm>
        </p:grpSpPr>
        <p:sp>
          <p:nvSpPr>
            <p:cNvPr id="2" name="Right Arrow 1"/>
            <p:cNvSpPr/>
            <p:nvPr/>
          </p:nvSpPr>
          <p:spPr>
            <a:xfrm>
              <a:off x="742950" y="5061284"/>
              <a:ext cx="7548563" cy="585788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Temporal Data Points</a:t>
              </a: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742951" y="4293389"/>
              <a:ext cx="7548563" cy="585788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Training Data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5757864" y="4288805"/>
              <a:ext cx="2547937" cy="585788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Validation</a:t>
              </a:r>
            </a:p>
          </p:txBody>
        </p:sp>
        <p:sp>
          <p:nvSpPr>
            <p:cNvPr id="3" name="Isosceles Triangle 2"/>
            <p:cNvSpPr/>
            <p:nvPr/>
          </p:nvSpPr>
          <p:spPr>
            <a:xfrm>
              <a:off x="3569494" y="4872037"/>
              <a:ext cx="1400174" cy="271463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/>
          <p:cNvSpPr/>
          <p:nvPr/>
        </p:nvSpPr>
        <p:spPr>
          <a:xfrm>
            <a:off x="2250830" y="5743574"/>
            <a:ext cx="6712267" cy="3857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Sub-setting data with regard to time is called “out of time” sampling.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19</a:t>
            </a:r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55469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	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057400"/>
            <a:ext cx="7772400" cy="3962400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b="1"/>
              <a:t>Focus is to predict (not describe/explain)</a:t>
            </a:r>
          </a:p>
          <a:p>
            <a:pPr>
              <a:buFont typeface="Wingdings 2" pitchFamily="18" charset="2"/>
              <a:buNone/>
            </a:pPr>
            <a:r>
              <a:rPr lang="en-US" b="1"/>
              <a:t>Four components</a:t>
            </a:r>
          </a:p>
          <a:p>
            <a:pPr lvl="1">
              <a:buFont typeface="Wingdings 2" pitchFamily="18" charset="2"/>
              <a:buNone/>
            </a:pPr>
            <a:r>
              <a:rPr lang="en-US" sz="2000"/>
              <a:t>Level</a:t>
            </a:r>
          </a:p>
          <a:p>
            <a:pPr lvl="1">
              <a:buFont typeface="Wingdings 2" pitchFamily="18" charset="2"/>
              <a:buNone/>
            </a:pPr>
            <a:r>
              <a:rPr lang="en-US" sz="2000"/>
              <a:t>Trend</a:t>
            </a:r>
          </a:p>
          <a:p>
            <a:pPr lvl="1">
              <a:buFont typeface="Wingdings 2" pitchFamily="18" charset="2"/>
              <a:buNone/>
            </a:pPr>
            <a:r>
              <a:rPr lang="en-US" sz="2000"/>
              <a:t>Seasonality</a:t>
            </a:r>
          </a:p>
          <a:p>
            <a:pPr lvl="1">
              <a:buFont typeface="Wingdings 2" pitchFamily="18" charset="2"/>
              <a:buNone/>
            </a:pPr>
            <a:r>
              <a:rPr lang="en-US" sz="2000"/>
              <a:t>Noise</a:t>
            </a:r>
          </a:p>
          <a:p>
            <a:pPr>
              <a:buFont typeface="Wingdings 2" pitchFamily="18" charset="2"/>
              <a:buNone/>
            </a:pPr>
            <a:r>
              <a:rPr lang="en-US" b="1"/>
              <a:t>Partition data by dividing into early/late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830661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15" name="Object 1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89" name="Picture 2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2" t="8288" r="3645" b="2832"/>
          <a:stretch/>
        </p:blipFill>
        <p:spPr bwMode="auto">
          <a:xfrm>
            <a:off x="152400" y="2019299"/>
            <a:ext cx="4419600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5" y="365126"/>
            <a:ext cx="8843963" cy="591477"/>
          </a:xfrm>
        </p:spPr>
        <p:txBody>
          <a:bodyPr/>
          <a:lstStyle/>
          <a:p>
            <a:r>
              <a:rPr lang="en-US" sz="3200" dirty="0"/>
              <a:t>What types of business problems can be forecasted?</a:t>
            </a:r>
          </a:p>
        </p:txBody>
      </p:sp>
      <p:sp>
        <p:nvSpPr>
          <p:cNvPr id="4" name="Isosceles Triangle 3"/>
          <p:cNvSpPr/>
          <p:nvPr/>
        </p:nvSpPr>
        <p:spPr>
          <a:xfrm rot="5400000">
            <a:off x="4221196" y="3449670"/>
            <a:ext cx="1447800" cy="498542"/>
          </a:xfrm>
          <a:prstGeom prst="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71463" y="1243013"/>
            <a:ext cx="8415337" cy="7143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 will cover a set of common forecasting tools to make predictions.   The goal is to create accurate future values and provide ranges of accuracy in real contexts.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29251" y="2128847"/>
            <a:ext cx="3171825" cy="4143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Amazon’s Quarterly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113" y="3014663"/>
            <a:ext cx="33861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Black is the actual through 2013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endParaRPr lang="en-US" dirty="0"/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Red is the fit and after the dateline, the best fit-forecast.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endParaRPr lang="en-US" dirty="0"/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Blue represents confidence intervals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21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126673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B_getRevenueData.R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734" y="1464273"/>
            <a:ext cx="7886700" cy="488853"/>
          </a:xfrm>
        </p:spPr>
        <p:txBody>
          <a:bodyPr/>
          <a:lstStyle/>
          <a:p>
            <a:r>
              <a:rPr lang="en-US" dirty="0"/>
              <a:t>Let’s forecast a recent real time series and plot 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89552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Inspecting meta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4332" y="1128709"/>
            <a:ext cx="8415337" cy="3857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the meta data for AMZN?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332" y="5857873"/>
            <a:ext cx="8415337" cy="4810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Does the meta data exhibit a discernable pattern?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Do you think historical values are a basis for future values? 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23</a:t>
            </a: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5CB26-96B9-985B-E409-BD3E5C349B6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448"/>
          <a:stretch/>
        </p:blipFill>
        <p:spPr>
          <a:xfrm>
            <a:off x="1612557" y="1531952"/>
            <a:ext cx="5918886" cy="419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82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15" name="Object 1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Common Methods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026" y="1128709"/>
            <a:ext cx="8815388" cy="3857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 will cover 3 common methods to forecasting.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312" y="1643058"/>
            <a:ext cx="1645920" cy="771525"/>
          </a:xfrm>
          <a:prstGeom prst="rect">
            <a:avLst/>
          </a:prstGeom>
          <a:solidFill>
            <a:schemeClr val="accent3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643058"/>
            <a:ext cx="1645920" cy="771525"/>
          </a:xfrm>
          <a:prstGeom prst="rect">
            <a:avLst/>
          </a:prstGeom>
          <a:solidFill>
            <a:schemeClr val="accent3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Holt Winters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0488" y="1643058"/>
            <a:ext cx="1645920" cy="771525"/>
          </a:xfrm>
          <a:prstGeom prst="rect">
            <a:avLst/>
          </a:prstGeom>
          <a:solidFill>
            <a:schemeClr val="accent3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TSD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3576" y="1643058"/>
            <a:ext cx="1645920" cy="771525"/>
          </a:xfrm>
          <a:prstGeom prst="rect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6661" y="1643058"/>
            <a:ext cx="1463040" cy="771525"/>
          </a:xfrm>
          <a:prstGeom prst="rect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312" y="2619375"/>
            <a:ext cx="1645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Most common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Easy/Fast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Usually not very accurate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018579" y="2619375"/>
            <a:ext cx="1645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Exponential Smoothing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Good w/Seasonality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7286" y="2619375"/>
            <a:ext cx="16459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Accurate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Good with trends/trend reversals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Good with noisy series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Good w/Seasonality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”black box”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58816" y="2519363"/>
            <a:ext cx="0" cy="301752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801904" y="2519363"/>
            <a:ext cx="0" cy="301752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644992" y="2519363"/>
            <a:ext cx="0" cy="301752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488080" y="2519363"/>
            <a:ext cx="0" cy="301752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85477" y="2619375"/>
            <a:ext cx="16459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Decomposes into meta-data components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Good for de-seasoning &amp; investigating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Not really forecasting future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2732" y="2619375"/>
            <a:ext cx="1645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Essentially linear regression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dirty="0"/>
              <a:t>Requires additional data manipulation &amp; effort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8968" y="5614738"/>
            <a:ext cx="8486274" cy="561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ARIMA &amp; Linear Model Forecasting is in the Appendix presentation &amp; book.  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2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25</a:t>
            </a:r>
          </a:p>
        </p:txBody>
      </p:sp>
      <p:sp>
        <p:nvSpPr>
          <p:cNvPr id="2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4077815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Methods of Naïve Forecasting</a:t>
            </a:r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673" y="1275276"/>
            <a:ext cx="2449288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42" y="1275276"/>
            <a:ext cx="2441259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956" y="3766063"/>
            <a:ext cx="2431568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42" y="3685101"/>
            <a:ext cx="2397904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60516" y="1438272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0515" y="3781422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</a:t>
            </a:r>
          </a:p>
          <a:p>
            <a:r>
              <a:rPr lang="en-US" dirty="0"/>
              <a:t>Naïve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1522" y="143827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Naïve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1522" y="391992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Drift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26</a:t>
            </a: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024106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Forecast - Mean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88" y="1610438"/>
            <a:ext cx="5210937" cy="436876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10783" y="1992574"/>
            <a:ext cx="2647666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Takes the mean for the series and repeats as future forecasts.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0783" y="3152129"/>
            <a:ext cx="2647666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Does this look accurate?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944202" y="3493828"/>
            <a:ext cx="3930554" cy="32754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7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Forecast - Mean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0783" y="1992574"/>
            <a:ext cx="2647666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Takes the mean for the series and repeats as future forecasts.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0783" y="3152129"/>
            <a:ext cx="2647666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Does this look accurate?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0783" y="3757685"/>
            <a:ext cx="2647666" cy="6463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When would this be appropriate?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944202" y="3493828"/>
            <a:ext cx="3930554" cy="32754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14" y="1719011"/>
            <a:ext cx="5232492" cy="37994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19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E071-0ADE-9A4E-A6F7-62FB33F0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591477"/>
          </a:xfrm>
        </p:spPr>
        <p:txBody>
          <a:bodyPr/>
          <a:lstStyle/>
          <a:p>
            <a:r>
              <a:rPr lang="en-US" sz="2800" dirty="0"/>
              <a:t>Naïve Mean doesn’t look good but sometimes is relevant.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BC2AE-E38D-FB48-8B3F-2923EA9D8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E5CC1-A103-AF4F-BFAE-18737C6E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1FE2B-BB90-A449-96F5-D8765AD35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1B65AF-834B-2742-B418-7D6574CC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1" y="1311713"/>
            <a:ext cx="8807092" cy="3935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6826E4F-52EE-114E-B68F-D41CE4F007E0}"/>
              </a:ext>
            </a:extLst>
          </p:cNvPr>
          <p:cNvSpPr/>
          <p:nvPr/>
        </p:nvSpPr>
        <p:spPr>
          <a:xfrm>
            <a:off x="368968" y="5614738"/>
            <a:ext cx="8486274" cy="561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Series in a range with some underlying stability</a:t>
            </a:r>
          </a:p>
          <a:p>
            <a:pPr algn="ctr"/>
            <a:r>
              <a:rPr lang="en-US" dirty="0"/>
              <a:t> (steel producers are usually a stable business)</a:t>
            </a:r>
          </a:p>
        </p:txBody>
      </p:sp>
    </p:spTree>
    <p:extLst>
      <p:ext uri="{BB962C8B-B14F-4D97-AF65-F5344CB8AC3E}">
        <p14:creationId xmlns:p14="http://schemas.microsoft.com/office/powerpoint/2010/main" val="4046325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Naïve Forecast - Mean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88" y="1610438"/>
            <a:ext cx="5210937" cy="436876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10783" y="1992574"/>
            <a:ext cx="2647666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Takes the mean for the series and repeats as future forecasts.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944202" y="3493828"/>
            <a:ext cx="3930554" cy="32754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28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Forecast - Drift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3959" y="1992574"/>
            <a:ext cx="2647666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Average rate of change is added from the last known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3959" y="4262655"/>
            <a:ext cx="2647666" cy="147732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Accuracy hurt by seasonality but is appropriate when there is a strong trend and non–repeating pattern.</a:t>
            </a:r>
          </a:p>
        </p:txBody>
      </p:sp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70" y="1597001"/>
            <a:ext cx="4928406" cy="46984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Isosceles Triangle 2"/>
          <p:cNvSpPr/>
          <p:nvPr/>
        </p:nvSpPr>
        <p:spPr>
          <a:xfrm rot="5400000">
            <a:off x="3364174" y="3650777"/>
            <a:ext cx="4599296" cy="54591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3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52" y="1569493"/>
            <a:ext cx="5380095" cy="451058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Forecast – Naïve (true)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0783" y="1992574"/>
            <a:ext cx="2647666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Uses last value as future.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1727" y="2756344"/>
            <a:ext cx="2647666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Does this look accurate?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2670" y="3457436"/>
            <a:ext cx="2647666" cy="147732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Accuracy hurt by trend and seasonality.  Use when you see a plateau in the data, meaning diminishing trend.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3944202" y="3493828"/>
            <a:ext cx="3930554" cy="32754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4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52" y="1563632"/>
            <a:ext cx="5381864" cy="4512067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Forecast – Naïve Seasonal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0783" y="1992574"/>
            <a:ext cx="264766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Uses last corresponding seasonal values in a repeating pattern.  Good if no trend.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0783" y="3438733"/>
            <a:ext cx="2647666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Does this look accurate?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0783" y="4044289"/>
            <a:ext cx="264766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When would this be appropriate?  When the series is flat (no trend) but has a repeating pattern.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3944202" y="3493828"/>
            <a:ext cx="3930554" cy="32754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961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3514721" y="3798725"/>
            <a:ext cx="4900655" cy="2748853"/>
            <a:chOff x="3979942" y="3412955"/>
            <a:chExt cx="4900655" cy="2748853"/>
          </a:xfrm>
        </p:grpSpPr>
        <p:pic>
          <p:nvPicPr>
            <p:cNvPr id="18437" name="Picture 5" descr="Image result for normal distribution curve transparen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1665" y="3980582"/>
              <a:ext cx="4638675" cy="2181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Arrow Connector 15"/>
            <p:cNvCxnSpPr/>
            <p:nvPr/>
          </p:nvCxnSpPr>
          <p:spPr>
            <a:xfrm flipV="1">
              <a:off x="4217880" y="4089242"/>
              <a:ext cx="0" cy="16459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 rot="16200000">
              <a:off x="3700923" y="4891063"/>
              <a:ext cx="835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Frequency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4217157" y="5717621"/>
              <a:ext cx="46634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6172723" y="5724699"/>
              <a:ext cx="5896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Values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6388768" y="3581398"/>
              <a:ext cx="1215191" cy="21656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543800" y="3412955"/>
              <a:ext cx="1287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Mu:</a:t>
              </a:r>
            </a:p>
            <a:p>
              <a:r>
                <a:rPr lang="en-US" sz="1200" dirty="0" err="1"/>
                <a:t>Avg</a:t>
              </a:r>
              <a:r>
                <a:rPr lang="en-US" sz="1200" dirty="0"/>
                <a:t> of population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Shaded Forecast Area?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75705" t="13454" r="5640" b="53169"/>
          <a:stretch/>
        </p:blipFill>
        <p:spPr>
          <a:xfrm>
            <a:off x="423081" y="1296530"/>
            <a:ext cx="2361062" cy="4639049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3491911" y="1146406"/>
            <a:ext cx="5567422" cy="3693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Independent and identically distributed random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7480" y="1520862"/>
            <a:ext cx="552222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2000" dirty="0"/>
              <a:t>Represents Prediction Intervals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2000" dirty="0"/>
              <a:t>Returns a value for each interval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 80 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 80 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 95 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 95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2000" dirty="0"/>
              <a:t>Each period increases standard deviation; stretching out the distribution.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dirty="0"/>
              <a:t>As time progresses uncertainty increases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834188" y="3384883"/>
            <a:ext cx="4652210" cy="44918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88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Shaded Forecast Area?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75705" t="13454" r="5640" b="53169"/>
          <a:stretch/>
        </p:blipFill>
        <p:spPr>
          <a:xfrm>
            <a:off x="505063" y="1491917"/>
            <a:ext cx="3890472" cy="417260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277854" y="1403560"/>
            <a:ext cx="362551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2400" dirty="0"/>
              <a:t>Laying the normal distribution onto the forecast you get a probability centered at the forecast.</a:t>
            </a:r>
          </a:p>
          <a:p>
            <a:pPr marL="109538" indent="-109538">
              <a:buFont typeface="Arial" panose="020B0604020202020204" pitchFamily="34" charset="0"/>
              <a:buChar char="•"/>
            </a:pPr>
            <a:r>
              <a:rPr lang="en-US" sz="2400" dirty="0"/>
              <a:t>Green is the “point estimate”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 80 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 80 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 95 </a:t>
            </a:r>
          </a:p>
          <a:p>
            <a:pPr marL="566738" lvl="1" indent="-109538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 95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8" name="Picture 2" descr="Image result for normal distribution curve transparen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9" t="11922"/>
          <a:stretch/>
        </p:blipFill>
        <p:spPr bwMode="auto">
          <a:xfrm rot="5400000">
            <a:off x="943677" y="3322570"/>
            <a:ext cx="4684298" cy="121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/>
          <p:cNvSpPr/>
          <p:nvPr/>
        </p:nvSpPr>
        <p:spPr>
          <a:xfrm>
            <a:off x="2713704" y="3045541"/>
            <a:ext cx="125362" cy="125362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703872" y="4510547"/>
            <a:ext cx="125362" cy="12536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2703872" y="3610896"/>
            <a:ext cx="125362" cy="1253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cxnSpLocks/>
            <a:stCxn id="31" idx="6"/>
          </p:cNvCxnSpPr>
          <p:nvPr/>
        </p:nvCxnSpPr>
        <p:spPr>
          <a:xfrm>
            <a:off x="2829234" y="4573228"/>
            <a:ext cx="291434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2900363" y="3143250"/>
            <a:ext cx="2857500" cy="98583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F8539F6-7B88-AB47-B178-13E7D711B65C}"/>
              </a:ext>
            </a:extLst>
          </p:cNvPr>
          <p:cNvSpPr/>
          <p:nvPr/>
        </p:nvSpPr>
        <p:spPr>
          <a:xfrm>
            <a:off x="5757863" y="3981157"/>
            <a:ext cx="924291" cy="10849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05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C_NaiveNike.R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110900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488" y="1654272"/>
            <a:ext cx="3771900" cy="1388966"/>
          </a:xfrm>
        </p:spPr>
        <p:txBody>
          <a:bodyPr/>
          <a:lstStyle/>
          <a:p>
            <a:r>
              <a:rPr lang="en-US" dirty="0"/>
              <a:t>Decompose a time series into</a:t>
            </a:r>
          </a:p>
          <a:p>
            <a:pPr lvl="1"/>
            <a:r>
              <a:rPr lang="en-US" dirty="0"/>
              <a:t>Trend</a:t>
            </a:r>
          </a:p>
          <a:p>
            <a:pPr lvl="1"/>
            <a:r>
              <a:rPr lang="en-US" dirty="0"/>
              <a:t>Seasonal</a:t>
            </a:r>
          </a:p>
          <a:p>
            <a:pPr lvl="1"/>
            <a:r>
              <a:rPr lang="en-US" dirty="0"/>
              <a:t>Random (noise)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4861707" cy="4843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024438" y="3206847"/>
            <a:ext cx="3771900" cy="20938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De-Season Data</a:t>
            </a:r>
          </a:p>
          <a:p>
            <a:pPr lvl="1"/>
            <a:r>
              <a:rPr lang="en-US" dirty="0"/>
              <a:t>Helps understand the underlying characteristics of a time series</a:t>
            </a:r>
          </a:p>
          <a:p>
            <a:r>
              <a:rPr lang="en-US" dirty="0"/>
              <a:t>Sometimes applying a forecast or model to the random component can improve accuracy</a:t>
            </a:r>
          </a:p>
        </p:txBody>
      </p:sp>
    </p:spTree>
    <p:extLst>
      <p:ext uri="{BB962C8B-B14F-4D97-AF65-F5344CB8AC3E}">
        <p14:creationId xmlns:p14="http://schemas.microsoft.com/office/powerpoint/2010/main" val="2479150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Decomposition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14248" y="1128692"/>
                <a:ext cx="371550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 err="1"/>
                  <a:t>Y</a:t>
                </a:r>
                <a:r>
                  <a:rPr lang="en-US" sz="4400" baseline="-25000" dirty="0" err="1"/>
                  <a:t>t</a:t>
                </a:r>
                <a:r>
                  <a:rPr lang="en-US" sz="4400" dirty="0"/>
                  <a:t> = </a:t>
                </a:r>
                <a14:m>
                  <m:oMath xmlns:m="http://schemas.openxmlformats.org/officeDocument/2006/math">
                    <m:r>
                      <a:rPr lang="pt-BR" sz="440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4400" dirty="0"/>
                  <a:t>(S</a:t>
                </a:r>
                <a:r>
                  <a:rPr lang="en-US" sz="4400" baseline="-25000" dirty="0"/>
                  <a:t>t</a:t>
                </a:r>
                <a:r>
                  <a:rPr lang="en-US" sz="4400" dirty="0"/>
                  <a:t>, T</a:t>
                </a:r>
                <a:r>
                  <a:rPr lang="en-US" sz="4400" baseline="-25000" dirty="0"/>
                  <a:t>t</a:t>
                </a:r>
                <a:r>
                  <a:rPr lang="en-US" sz="4400" dirty="0"/>
                  <a:t>, E</a:t>
                </a:r>
                <a:r>
                  <a:rPr lang="en-US" sz="4400" baseline="-25000" dirty="0"/>
                  <a:t>t</a:t>
                </a:r>
                <a:r>
                  <a:rPr lang="en-US" sz="4400" dirty="0"/>
                  <a:t>)</a:t>
                </a:r>
                <a:r>
                  <a:rPr lang="en-US" sz="4400" baseline="-25000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248" y="1128692"/>
                <a:ext cx="3715504" cy="769441"/>
              </a:xfrm>
              <a:prstGeom prst="rect">
                <a:avLst/>
              </a:prstGeom>
              <a:blipFill rotWithShape="0">
                <a:blip r:embed="rId2"/>
                <a:stretch>
                  <a:fillRect l="-6557" t="-15873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14325" y="2014520"/>
            <a:ext cx="8509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at a specific time period (t) is equal to a mix* of seasonal  values, trend values and whatever is left  at the same time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3571857"/>
            <a:ext cx="529760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u="sng" dirty="0"/>
              <a:t>Where (Math-speak version):</a:t>
            </a:r>
          </a:p>
          <a:p>
            <a:r>
              <a:rPr lang="en-US" sz="2000" dirty="0" err="1"/>
              <a:t>Y</a:t>
            </a:r>
            <a:r>
              <a:rPr lang="en-US" sz="2000" baseline="-25000" dirty="0" err="1"/>
              <a:t>t</a:t>
            </a:r>
            <a:r>
              <a:rPr lang="en-US" sz="2000" dirty="0"/>
              <a:t> = data at period t</a:t>
            </a:r>
          </a:p>
          <a:p>
            <a:r>
              <a:rPr lang="en-US" sz="2000" dirty="0"/>
              <a:t>S</a:t>
            </a:r>
            <a:r>
              <a:rPr lang="en-US" sz="2000" baseline="-25000" dirty="0"/>
              <a:t>t</a:t>
            </a:r>
            <a:r>
              <a:rPr lang="en-US" sz="2000" dirty="0"/>
              <a:t> = seasonal component at period t</a:t>
            </a:r>
          </a:p>
          <a:p>
            <a:r>
              <a:rPr lang="en-US" sz="2000" dirty="0"/>
              <a:t>T</a:t>
            </a:r>
            <a:r>
              <a:rPr lang="en-US" sz="2000" baseline="-25000" dirty="0"/>
              <a:t>t</a:t>
            </a:r>
            <a:r>
              <a:rPr lang="en-US" sz="2000" dirty="0"/>
              <a:t> = trend component at period t</a:t>
            </a:r>
          </a:p>
          <a:p>
            <a:r>
              <a:rPr lang="en-US" sz="2000" dirty="0"/>
              <a:t>E</a:t>
            </a:r>
            <a:r>
              <a:rPr lang="en-US" sz="2000" baseline="-25000" dirty="0"/>
              <a:t>t</a:t>
            </a:r>
            <a:r>
              <a:rPr lang="en-US" sz="2000" dirty="0"/>
              <a:t> = remainder or residual component at period t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957263" y="1914514"/>
            <a:ext cx="7515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836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Decomposition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14248" y="1128692"/>
                <a:ext cx="371550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400" dirty="0" err="1"/>
                  <a:t>Y</a:t>
                </a:r>
                <a:r>
                  <a:rPr lang="en-US" sz="4400" baseline="-25000" dirty="0" err="1"/>
                  <a:t>t</a:t>
                </a:r>
                <a:r>
                  <a:rPr lang="en-US" sz="4400" dirty="0"/>
                  <a:t> = </a:t>
                </a:r>
                <a14:m>
                  <m:oMath xmlns:m="http://schemas.openxmlformats.org/officeDocument/2006/math">
                    <m:r>
                      <a:rPr lang="pt-BR" sz="440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4400" dirty="0"/>
                  <a:t>(S</a:t>
                </a:r>
                <a:r>
                  <a:rPr lang="en-US" sz="4400" baseline="-25000" dirty="0"/>
                  <a:t>t</a:t>
                </a:r>
                <a:r>
                  <a:rPr lang="en-US" sz="4400" dirty="0"/>
                  <a:t>, T</a:t>
                </a:r>
                <a:r>
                  <a:rPr lang="en-US" sz="4400" baseline="-25000" dirty="0"/>
                  <a:t>t</a:t>
                </a:r>
                <a:r>
                  <a:rPr lang="en-US" sz="4400" dirty="0"/>
                  <a:t>, E</a:t>
                </a:r>
                <a:r>
                  <a:rPr lang="en-US" sz="4400" baseline="-25000" dirty="0"/>
                  <a:t>t</a:t>
                </a:r>
                <a:r>
                  <a:rPr lang="en-US" sz="4400" dirty="0"/>
                  <a:t>)</a:t>
                </a:r>
                <a:r>
                  <a:rPr lang="en-US" sz="4400" baseline="-25000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248" y="1128692"/>
                <a:ext cx="3715504" cy="769441"/>
              </a:xfrm>
              <a:prstGeom prst="rect">
                <a:avLst/>
              </a:prstGeom>
              <a:blipFill rotWithShape="0">
                <a:blip r:embed="rId3"/>
                <a:stretch>
                  <a:fillRect l="-6557" t="-15873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14325" y="2014520"/>
            <a:ext cx="8509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at a specific time period (t) is equal to a mix* of seasonal  values, trend values and whatever is left  at the same time period.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957263" y="1914514"/>
            <a:ext cx="7515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8112" y="3357554"/>
            <a:ext cx="8955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Additive</a:t>
            </a:r>
            <a:r>
              <a:rPr lang="en-US" sz="1600" dirty="0"/>
              <a:t> – </a:t>
            </a:r>
            <a:r>
              <a:rPr lang="en-US" sz="1600" dirty="0" err="1"/>
              <a:t>Y</a:t>
            </a:r>
            <a:r>
              <a:rPr lang="en-US" sz="1600" baseline="-25000" dirty="0" err="1"/>
              <a:t>t</a:t>
            </a:r>
            <a:r>
              <a:rPr lang="en-US" sz="1600" dirty="0"/>
              <a:t>= Seasonal effect + Trend + Residual</a:t>
            </a:r>
          </a:p>
          <a:p>
            <a:r>
              <a:rPr lang="en-US" sz="1600" dirty="0"/>
              <a:t>An additive model assumes that </a:t>
            </a:r>
            <a:r>
              <a:rPr lang="en-US" sz="1600" b="1" dirty="0">
                <a:solidFill>
                  <a:schemeClr val="accent1"/>
                </a:solidFill>
              </a:rPr>
              <a:t>the difference between each time period is approximately the same</a:t>
            </a:r>
          </a:p>
          <a:p>
            <a:r>
              <a:rPr lang="en-US" sz="1600" dirty="0"/>
              <a:t> For example, Jan trend is +100,  so next Jan trend would add another +100.  </a:t>
            </a:r>
          </a:p>
          <a:p>
            <a:endParaRPr lang="en-US" sz="16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C1F20-A75B-BF4A-B4D7-C0A9AC749BC5}"/>
              </a:ext>
            </a:extLst>
          </p:cNvPr>
          <p:cNvSpPr/>
          <p:nvPr/>
        </p:nvSpPr>
        <p:spPr>
          <a:xfrm>
            <a:off x="239485" y="4781905"/>
            <a:ext cx="83674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Multiplicative</a:t>
            </a:r>
            <a:r>
              <a:rPr lang="en-US" dirty="0"/>
              <a:t> - </a:t>
            </a:r>
            <a:r>
              <a:rPr lang="en-US" dirty="0" err="1"/>
              <a:t>Y</a:t>
            </a:r>
            <a:r>
              <a:rPr lang="en-US" baseline="-25000" dirty="0" err="1"/>
              <a:t>t</a:t>
            </a:r>
            <a:r>
              <a:rPr lang="en-US" dirty="0"/>
              <a:t>= Seasonal effect X Trend X Residual</a:t>
            </a:r>
          </a:p>
          <a:p>
            <a:r>
              <a:rPr lang="en-US" dirty="0"/>
              <a:t>A multiplicative model assumes </a:t>
            </a:r>
            <a:r>
              <a:rPr lang="en-US" b="1" dirty="0">
                <a:solidFill>
                  <a:schemeClr val="accent1"/>
                </a:solidFill>
              </a:rPr>
              <a:t>changes are proportional and not constant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For example Jan season is +100 as part of a 1,000 total (10%).  The next Jan the total is 1500, and the seasonal adjustment would be 150 (10%).     </a:t>
            </a:r>
          </a:p>
        </p:txBody>
      </p:sp>
    </p:spTree>
    <p:extLst>
      <p:ext uri="{BB962C8B-B14F-4D97-AF65-F5344CB8AC3E}">
        <p14:creationId xmlns:p14="http://schemas.microsoft.com/office/powerpoint/2010/main" val="378768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Decomposition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176" y="5057775"/>
            <a:ext cx="834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additive models if the seasonality (repeating pattern) is similar.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Peak to trough looks the same, so additive is ok.</a:t>
            </a:r>
          </a:p>
        </p:txBody>
      </p:sp>
      <p:pic>
        <p:nvPicPr>
          <p:cNvPr id="18434" name="Picture 2" descr="Image result for additive time ser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6" y="2047864"/>
            <a:ext cx="370522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600326" y="1533513"/>
            <a:ext cx="3600450" cy="400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Additive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14325" y="4800600"/>
            <a:ext cx="83439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209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Decomposition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176" y="5057775"/>
            <a:ext cx="8343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multiplicative if the seasonality grows larger over time but is still the same proportion of the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peak to trough looks exaggerated over time</a:t>
            </a:r>
          </a:p>
        </p:txBody>
      </p:sp>
      <p:pic>
        <p:nvPicPr>
          <p:cNvPr id="18436" name="Picture 4" descr="Image result for multiplicative time ser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2" y="2048344"/>
            <a:ext cx="3989386" cy="2408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566988" y="1547801"/>
            <a:ext cx="4133849" cy="400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Multiplicative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14325" y="4800600"/>
            <a:ext cx="83439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595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Decomposition – Side by Side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176" y="5057775"/>
            <a:ext cx="8343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additive models if the seasonality (repeating pattern) is similar.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multiplicative if the seasonality grows larger over time but is still the same proportion of the total</a:t>
            </a:r>
          </a:p>
        </p:txBody>
      </p:sp>
      <p:pic>
        <p:nvPicPr>
          <p:cNvPr id="18434" name="Picture 2" descr="Image result for additive time ser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6" y="2047864"/>
            <a:ext cx="370522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Image result for multiplicative time seri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014" y="2076919"/>
            <a:ext cx="3989386" cy="2408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300038" y="1576376"/>
            <a:ext cx="3600450" cy="400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Additive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0100" y="1576376"/>
            <a:ext cx="4133849" cy="400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Multiplicative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14325" y="4800600"/>
            <a:ext cx="83439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972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– Time Series Decomposition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1" y="1657350"/>
            <a:ext cx="79724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Separates Trend, Seasonal and Random components of a time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Components are combined by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Additive – adding components is appropriate if the seasonal pattern is consistent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Multiplicative – multiplying components is appropriate if the seasonal pattern changes over time but it proportional to the time series.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TSD can help you understand the data and can be done as part of EDA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component can be forecasted separately to (sometimes) improve accuracy then each forecast can be combined to arrive at a final forecast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De-seasoning data is possible by subtracting (additive TSD) or dividing (multiplicative TSD) it out of the time series – see the impact of an event from expected seasonal or trend changes; quantifies impact</a:t>
            </a:r>
          </a:p>
        </p:txBody>
      </p:sp>
    </p:spTree>
    <p:extLst>
      <p:ext uri="{BB962C8B-B14F-4D97-AF65-F5344CB8AC3E}">
        <p14:creationId xmlns:p14="http://schemas.microsoft.com/office/powerpoint/2010/main" val="11711954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D_TimeSeriesDecompositionAMZN.R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165044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 averages…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6794"/>
            <a:ext cx="8658225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Mean Average – good for population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461" y="1643062"/>
            <a:ext cx="2457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Add all values and divide by population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611" y="2328863"/>
            <a:ext cx="2343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Each record has the same weight.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919681"/>
              </p:ext>
            </p:extLst>
          </p:nvPr>
        </p:nvGraphicFramePr>
        <p:xfrm>
          <a:off x="789430" y="3054351"/>
          <a:ext cx="14215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547326" y="5514976"/>
            <a:ext cx="1905721" cy="522083"/>
            <a:chOff x="385763" y="5514976"/>
            <a:chExt cx="1905721" cy="522083"/>
          </a:xfrm>
        </p:grpSpPr>
        <p:grpSp>
          <p:nvGrpSpPr>
            <p:cNvPr id="17" name="Group 16"/>
            <p:cNvGrpSpPr/>
            <p:nvPr/>
          </p:nvGrpSpPr>
          <p:grpSpPr>
            <a:xfrm>
              <a:off x="385763" y="5514976"/>
              <a:ext cx="1457450" cy="522083"/>
              <a:chOff x="385763" y="5514976"/>
              <a:chExt cx="1457450" cy="522083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385763" y="5514976"/>
                <a:ext cx="14574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u="sng" dirty="0"/>
                  <a:t>10+20+30+40+50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976469" y="5729282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5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1757363" y="5591351"/>
              <a:ext cx="534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=30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5043488" y="1757362"/>
            <a:ext cx="1704313" cy="6463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mean(riders)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[1] 1822.197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3" y="2433637"/>
            <a:ext cx="4924426" cy="3769958"/>
          </a:xfrm>
          <a:prstGeom prst="rect">
            <a:avLst/>
          </a:prstGeom>
        </p:spPr>
      </p:pic>
      <p:cxnSp>
        <p:nvCxnSpPr>
          <p:cNvPr id="39" name="Straight Connector 38"/>
          <p:cNvCxnSpPr/>
          <p:nvPr/>
        </p:nvCxnSpPr>
        <p:spPr>
          <a:xfrm>
            <a:off x="3214688" y="1971675"/>
            <a:ext cx="0" cy="41290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793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207" y="1943093"/>
            <a:ext cx="5139442" cy="39445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 averages…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6794"/>
            <a:ext cx="8658225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Centered Moving Average – smooths seasonality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856115"/>
              </p:ext>
            </p:extLst>
          </p:nvPr>
        </p:nvGraphicFramePr>
        <p:xfrm>
          <a:off x="298869" y="3149604"/>
          <a:ext cx="14215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45091" y="1709741"/>
            <a:ext cx="2457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Add all values and divide by population </a:t>
            </a:r>
            <a:r>
              <a:rPr lang="en-US" sz="1600" b="1" i="1" dirty="0"/>
              <a:t>in the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241" y="2438404"/>
            <a:ext cx="2343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Records in the window have the same weight.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8421" y="3214691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3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1339673" y="3941925"/>
            <a:ext cx="109728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962129" y="3757615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10+20+30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0324" y="393858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2129" y="4652967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30+40+50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0324" y="49768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2429" y="4300540"/>
            <a:ext cx="319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1859" y="467218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1859" y="3781608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=15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1334911" y="4365787"/>
            <a:ext cx="1097280" cy="228600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 rot="5400000">
            <a:off x="1334910" y="4694400"/>
            <a:ext cx="109728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352425" y="5912627"/>
            <a:ext cx="865822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Descriptive because it uses values from the future so not good for forecasting.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7904" y="1628776"/>
            <a:ext cx="2844048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US" dirty="0"/>
              <a:t>ma(riders, order =12)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0416" y="1643051"/>
            <a:ext cx="0" cy="41290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520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 averages…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6794"/>
            <a:ext cx="8658225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Trailing Moving Average – smooths seasonality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98869" y="3149604"/>
          <a:ext cx="14215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45091" y="1709741"/>
            <a:ext cx="2457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Add all values and divide by population </a:t>
            </a:r>
            <a:r>
              <a:rPr lang="en-US" sz="1600" b="1" i="1" dirty="0"/>
              <a:t>in the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241" y="2438404"/>
            <a:ext cx="2343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Records in the window have the same weight.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18421" y="3214691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2129" y="4314841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10+20+30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0324" y="449581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2129" y="4752983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20+30+40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0324" y="49768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1859" y="477220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1859" y="433883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425" y="5912627"/>
            <a:ext cx="865822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Uses preceding window values so ok for forecasts but lags for trend and seasonal.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6277" y="1628776"/>
            <a:ext cx="5250155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US" dirty="0" err="1"/>
              <a:t>rollmean</a:t>
            </a:r>
            <a:r>
              <a:rPr lang="en-US" dirty="0"/>
              <a:t>(riders, k = 12, align = 'right'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706" y="2019451"/>
            <a:ext cx="5025297" cy="3795562"/>
          </a:xfrm>
          <a:prstGeom prst="rect">
            <a:avLst/>
          </a:prstGeom>
        </p:spPr>
      </p:pic>
      <p:sp>
        <p:nvSpPr>
          <p:cNvPr id="43" name="Freeform 42"/>
          <p:cNvSpPr/>
          <p:nvPr/>
        </p:nvSpPr>
        <p:spPr>
          <a:xfrm rot="5400000">
            <a:off x="1426349" y="3957639"/>
            <a:ext cx="928690" cy="242888"/>
          </a:xfrm>
          <a:custGeom>
            <a:avLst/>
            <a:gdLst>
              <a:gd name="connsiteX0" fmla="*/ 0 w 526252"/>
              <a:gd name="connsiteY0" fmla="*/ 219272 h 219272"/>
              <a:gd name="connsiteX1" fmla="*/ 526252 w 526252"/>
              <a:gd name="connsiteY1" fmla="*/ 0 h 219272"/>
              <a:gd name="connsiteX2" fmla="*/ 526252 w 526252"/>
              <a:gd name="connsiteY2" fmla="*/ 219272 h 219272"/>
              <a:gd name="connsiteX3" fmla="*/ 0 w 526252"/>
              <a:gd name="connsiteY3" fmla="*/ 219272 h 219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252" h="219272">
                <a:moveTo>
                  <a:pt x="0" y="219272"/>
                </a:moveTo>
                <a:lnTo>
                  <a:pt x="526252" y="0"/>
                </a:lnTo>
                <a:lnTo>
                  <a:pt x="526252" y="219272"/>
                </a:lnTo>
                <a:lnTo>
                  <a:pt x="0" y="219272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5400000">
            <a:off x="1330246" y="4327582"/>
            <a:ext cx="1097280" cy="219272"/>
          </a:xfrm>
          <a:custGeom>
            <a:avLst/>
            <a:gdLst>
              <a:gd name="connsiteX0" fmla="*/ 0 w 526252"/>
              <a:gd name="connsiteY0" fmla="*/ 219272 h 219272"/>
              <a:gd name="connsiteX1" fmla="*/ 526252 w 526252"/>
              <a:gd name="connsiteY1" fmla="*/ 0 h 219272"/>
              <a:gd name="connsiteX2" fmla="*/ 526252 w 526252"/>
              <a:gd name="connsiteY2" fmla="*/ 219272 h 219272"/>
              <a:gd name="connsiteX3" fmla="*/ 0 w 526252"/>
              <a:gd name="connsiteY3" fmla="*/ 219272 h 219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252" h="219272">
                <a:moveTo>
                  <a:pt x="0" y="219272"/>
                </a:moveTo>
                <a:lnTo>
                  <a:pt x="526252" y="0"/>
                </a:lnTo>
                <a:lnTo>
                  <a:pt x="526252" y="219272"/>
                </a:lnTo>
                <a:lnTo>
                  <a:pt x="0" y="219272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>
            <a:off x="3300416" y="1643051"/>
            <a:ext cx="0" cy="41290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77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 averages…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16794"/>
            <a:ext cx="8658225" cy="46166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Exponential Smoothing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888" y="1752603"/>
            <a:ext cx="862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Older records in the window have the </a:t>
            </a:r>
            <a:r>
              <a:rPr lang="en-US" sz="2800" b="1" u="sng" dirty="0"/>
              <a:t>diminishing</a:t>
            </a:r>
            <a:r>
              <a:rPr lang="en-US" sz="2800" u="sng" dirty="0"/>
              <a:t>  weight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425" y="5912627"/>
            <a:ext cx="865822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Values are weighted so their impact diminishes in the average the farther 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42018" y="2718170"/>
            <a:ext cx="547380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400" b="1" dirty="0"/>
              <a:t>α</a:t>
            </a:r>
            <a:r>
              <a:rPr lang="en-US" sz="2400" b="1" dirty="0"/>
              <a:t> is a parameter between 0 and 1.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0= all records are even, so just naïve mean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Approaching 0 = more weight is given to observations from the more distant past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Approaching 1= more weight given to recent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 = all weight given to the most recent (same as a true Naïve forecast)</a:t>
            </a:r>
          </a:p>
        </p:txBody>
      </p:sp>
    </p:spTree>
    <p:extLst>
      <p:ext uri="{BB962C8B-B14F-4D97-AF65-F5344CB8AC3E}">
        <p14:creationId xmlns:p14="http://schemas.microsoft.com/office/powerpoint/2010/main" val="18396286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E_HoltWintersWMT.R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47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16794"/>
            <a:ext cx="8658225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HW applies exponential smoothing to </a:t>
            </a:r>
            <a:r>
              <a:rPr lang="en-US" b="1" dirty="0">
                <a:solidFill>
                  <a:schemeClr val="bg1"/>
                </a:solidFill>
              </a:rPr>
              <a:t>level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trend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seasonality</a:t>
            </a:r>
            <a:r>
              <a:rPr lang="en-US" dirty="0">
                <a:solidFill>
                  <a:schemeClr val="bg1"/>
                </a:solidFill>
              </a:rPr>
              <a:t> individually then combines them.</a:t>
            </a:r>
          </a:p>
        </p:txBody>
      </p:sp>
    </p:spTree>
    <p:extLst>
      <p:ext uri="{BB962C8B-B14F-4D97-AF65-F5344CB8AC3E}">
        <p14:creationId xmlns:p14="http://schemas.microsoft.com/office/powerpoint/2010/main" val="12478657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23369</TotalTime>
  <Words>2298</Words>
  <Application>Microsoft Macintosh PowerPoint</Application>
  <PresentationFormat>On-screen Show (4:3)</PresentationFormat>
  <Paragraphs>508</Paragraphs>
  <Slides>47</Slides>
  <Notes>10</Notes>
  <HiddenSlides>9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Cambria Math</vt:lpstr>
      <vt:lpstr>Consolas</vt:lpstr>
      <vt:lpstr>Wingdings 2</vt:lpstr>
      <vt:lpstr>Office Theme</vt:lpstr>
      <vt:lpstr>think-cell Slide</vt:lpstr>
      <vt:lpstr>Time Series Forecasting</vt:lpstr>
      <vt:lpstr>Main ideas</vt:lpstr>
      <vt:lpstr>Difference between ML Data Setup &amp; Time Series Data</vt:lpstr>
      <vt:lpstr>Difference between ML Data Setup &amp; Time Series Data</vt:lpstr>
      <vt:lpstr>What is forecasting?</vt:lpstr>
      <vt:lpstr>Explain Vs. Predict</vt:lpstr>
      <vt:lpstr>The data inside the time series data</vt:lpstr>
      <vt:lpstr>Amtrak Actual Riders</vt:lpstr>
      <vt:lpstr>Amtrak Actuals</vt:lpstr>
      <vt:lpstr>Amtrak Actuals</vt:lpstr>
      <vt:lpstr>Zoom to 3 years (1997-1999)</vt:lpstr>
      <vt:lpstr>PowerPoint Presentation</vt:lpstr>
      <vt:lpstr>PowerPoint Presentation</vt:lpstr>
      <vt:lpstr>PowerPoint Presentation</vt:lpstr>
      <vt:lpstr>PowerPoint Presentation</vt:lpstr>
      <vt:lpstr>Open A_amtrak.R</vt:lpstr>
      <vt:lpstr>Machine Learning Partitioning </vt:lpstr>
      <vt:lpstr>Time Series Partitioning is not random</vt:lpstr>
      <vt:lpstr>Summary </vt:lpstr>
      <vt:lpstr>What types of business problems can be forecasted?</vt:lpstr>
      <vt:lpstr>Open B_getRevenueData.R</vt:lpstr>
      <vt:lpstr>Inspecting meta data.</vt:lpstr>
      <vt:lpstr>5 Common Methods</vt:lpstr>
      <vt:lpstr>4 Methods of Naïve Forecasting</vt:lpstr>
      <vt:lpstr>Naïve Forecast - Mean</vt:lpstr>
      <vt:lpstr>Naïve Forecast - Mean</vt:lpstr>
      <vt:lpstr>Naïve Mean doesn’t look good but sometimes is relevant.</vt:lpstr>
      <vt:lpstr>Revisiting Naïve Forecast - Mean</vt:lpstr>
      <vt:lpstr>Naïve Forecast - Drift</vt:lpstr>
      <vt:lpstr>Naïve Forecast – Naïve (true)</vt:lpstr>
      <vt:lpstr>Naïve Forecast – Naïve Seasonal</vt:lpstr>
      <vt:lpstr>Shaded Forecast Area?</vt:lpstr>
      <vt:lpstr>Shaded Forecast Area?</vt:lpstr>
      <vt:lpstr>Open C_NaiveNike.R</vt:lpstr>
      <vt:lpstr>Time Series Decomposition</vt:lpstr>
      <vt:lpstr>Time Series Decomposition</vt:lpstr>
      <vt:lpstr>Time Series Decomposition</vt:lpstr>
      <vt:lpstr>Time Series Decomposition</vt:lpstr>
      <vt:lpstr>Time Series Decomposition</vt:lpstr>
      <vt:lpstr>Time Series Decomposition – Side by Side</vt:lpstr>
      <vt:lpstr>Summary – Time Series Decomposition</vt:lpstr>
      <vt:lpstr>Open D_TimeSeriesDecompositionAMZN.R</vt:lpstr>
      <vt:lpstr>But first averages…</vt:lpstr>
      <vt:lpstr>But first averages…</vt:lpstr>
      <vt:lpstr>But first averages…</vt:lpstr>
      <vt:lpstr>But first averages…</vt:lpstr>
      <vt:lpstr>Open E_HoltWintersWMT.R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Kwartler</dc:creator>
  <cp:lastModifiedBy>Ted Kwartler</cp:lastModifiedBy>
  <cp:revision>173</cp:revision>
  <dcterms:created xsi:type="dcterms:W3CDTF">2018-05-11T14:06:45Z</dcterms:created>
  <dcterms:modified xsi:type="dcterms:W3CDTF">2026-03-23T23:57:14Z</dcterms:modified>
</cp:coreProperties>
</file>