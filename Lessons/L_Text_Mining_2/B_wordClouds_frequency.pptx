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7"/>
  </p:notesMasterIdLst>
  <p:sldIdLst>
    <p:sldId id="778" r:id="rId2"/>
    <p:sldId id="775" r:id="rId3"/>
    <p:sldId id="776" r:id="rId4"/>
    <p:sldId id="777" r:id="rId5"/>
    <p:sldId id="779" r:id="rId6"/>
    <p:sldId id="780" r:id="rId7"/>
    <p:sldId id="393" r:id="rId8"/>
    <p:sldId id="394" r:id="rId9"/>
    <p:sldId id="395" r:id="rId10"/>
    <p:sldId id="783" r:id="rId11"/>
    <p:sldId id="784" r:id="rId12"/>
    <p:sldId id="786" r:id="rId13"/>
    <p:sldId id="788" r:id="rId14"/>
    <p:sldId id="789" r:id="rId15"/>
    <p:sldId id="790" r:id="rId16"/>
    <p:sldId id="528" r:id="rId17"/>
    <p:sldId id="792" r:id="rId18"/>
    <p:sldId id="793" r:id="rId19"/>
    <p:sldId id="794" r:id="rId20"/>
    <p:sldId id="797" r:id="rId21"/>
    <p:sldId id="799" r:id="rId22"/>
    <p:sldId id="796" r:id="rId23"/>
    <p:sldId id="795" r:id="rId24"/>
    <p:sldId id="798" r:id="rId25"/>
    <p:sldId id="791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37" autoAdjust="0"/>
    <p:restoredTop sz="94660"/>
  </p:normalViewPr>
  <p:slideViewPr>
    <p:cSldViewPr snapToGrid="0">
      <p:cViewPr varScale="1">
        <p:scale>
          <a:sx n="124" d="100"/>
          <a:sy n="124" d="100"/>
        </p:scale>
        <p:origin x="1080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2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B0C0A60C-850A-4EA4-9C14-A8FE98B94505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4E9AA13-E3FC-4BB6-B68D-5F0F5803D7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05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Pg</a:t>
            </a:r>
            <a:r>
              <a:rPr lang="en-US" dirty="0"/>
              <a:t> 101 in book</a:t>
            </a:r>
            <a:r>
              <a:rPr lang="en-US" baseline="0" dirty="0"/>
              <a:t> has explanation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E9AA13-E3FC-4BB6-B68D-5F0F5803D7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1252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8B90E-0779-4C36-915C-6F05FCD89456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29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S-96</a:t>
            </a:r>
          </a:p>
        </p:txBody>
      </p:sp>
    </p:spTree>
    <p:extLst>
      <p:ext uri="{BB962C8B-B14F-4D97-AF65-F5344CB8AC3E}">
        <p14:creationId xmlns:p14="http://schemas.microsoft.com/office/powerpoint/2010/main" val="4163882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11347"/>
            <a:ext cx="7886700" cy="51206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3EFC8-4232-4598-94F6-94C0EBAFC469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S-96</a:t>
            </a:r>
          </a:p>
        </p:txBody>
      </p:sp>
    </p:spTree>
    <p:extLst>
      <p:ext uri="{BB962C8B-B14F-4D97-AF65-F5344CB8AC3E}">
        <p14:creationId xmlns:p14="http://schemas.microsoft.com/office/powerpoint/2010/main" val="436896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161074-1C18-4AE7-957D-F18524378C85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S-96</a:t>
            </a:r>
          </a:p>
        </p:txBody>
      </p:sp>
    </p:spTree>
    <p:extLst>
      <p:ext uri="{BB962C8B-B14F-4D97-AF65-F5344CB8AC3E}">
        <p14:creationId xmlns:p14="http://schemas.microsoft.com/office/powerpoint/2010/main" val="209145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92583"/>
            <a:ext cx="3886200" cy="4969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E256C-8D9A-4404-B47D-41A1AE514425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S-96</a:t>
            </a:r>
          </a:p>
        </p:txBody>
      </p:sp>
    </p:spTree>
    <p:extLst>
      <p:ext uri="{BB962C8B-B14F-4D97-AF65-F5344CB8AC3E}">
        <p14:creationId xmlns:p14="http://schemas.microsoft.com/office/powerpoint/2010/main" val="790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32519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956431"/>
            <a:ext cx="3868340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32519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956431"/>
            <a:ext cx="3887391" cy="42052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2154-9035-4012-8189-BAAB61C5A5EE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Kwartler CSCI S-96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7502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4/20/26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E-96</a:t>
            </a:r>
          </a:p>
        </p:txBody>
      </p:sp>
    </p:spTree>
    <p:extLst>
      <p:ext uri="{BB962C8B-B14F-4D97-AF65-F5344CB8AC3E}">
        <p14:creationId xmlns:p14="http://schemas.microsoft.com/office/powerpoint/2010/main" val="4285218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6E382-4F61-4E24-BE1A-377EC83D0E3A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E-96</a:t>
            </a:r>
          </a:p>
        </p:txBody>
      </p:sp>
    </p:spTree>
    <p:extLst>
      <p:ext uri="{BB962C8B-B14F-4D97-AF65-F5344CB8AC3E}">
        <p14:creationId xmlns:p14="http://schemas.microsoft.com/office/powerpoint/2010/main" val="2241334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1083212"/>
            <a:ext cx="4629150" cy="507843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097279"/>
            <a:ext cx="2949178" cy="506436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2EED6-FC16-45B9-B8C4-2BC5DBA88325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E-96</a:t>
            </a:r>
          </a:p>
        </p:txBody>
      </p:sp>
    </p:spTree>
    <p:extLst>
      <p:ext uri="{BB962C8B-B14F-4D97-AF65-F5344CB8AC3E}">
        <p14:creationId xmlns:p14="http://schemas.microsoft.com/office/powerpoint/2010/main" val="3586237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1139483"/>
            <a:ext cx="4629150" cy="5022166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181685"/>
            <a:ext cx="2949178" cy="497996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512B-4F1D-43D7-8819-2F53FEF69650}" type="datetime1">
              <a:rPr lang="en-US" smtClean="0"/>
              <a:t>4/20/26</a:t>
            </a:fld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E-96</a:t>
            </a:r>
          </a:p>
        </p:txBody>
      </p:sp>
    </p:spTree>
    <p:extLst>
      <p:ext uri="{BB962C8B-B14F-4D97-AF65-F5344CB8AC3E}">
        <p14:creationId xmlns:p14="http://schemas.microsoft.com/office/powerpoint/2010/main" val="19542475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080030"/>
            <a:ext cx="7886700" cy="512064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A29D-D431-42FE-B7B6-AAE4454C77D3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Kwartler CSCI E-96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654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1209821"/>
            <a:ext cx="1971675" cy="4967141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223889"/>
            <a:ext cx="5800725" cy="4953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D8A1E-EA8F-46C1-B891-AE0C00D9C314}" type="datetime1">
              <a:rPr lang="en-US" smtClean="0"/>
              <a:t>4/20/26</a:t>
            </a:fld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857250" cy="365125"/>
          </a:xfrm>
        </p:spPr>
        <p:txBody>
          <a:bodyPr/>
          <a:lstStyle/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2" descr="Image result for harvard logo transparent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6248400"/>
            <a:ext cx="18288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/>
          <p:cNvSpPr txBox="1">
            <a:spLocks/>
          </p:cNvSpPr>
          <p:nvPr userDrawn="1"/>
        </p:nvSpPr>
        <p:spPr>
          <a:xfrm>
            <a:off x="628650" y="365126"/>
            <a:ext cx="7886700" cy="59147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E-96</a:t>
            </a:r>
          </a:p>
        </p:txBody>
      </p:sp>
    </p:spTree>
    <p:extLst>
      <p:ext uri="{BB962C8B-B14F-4D97-AF65-F5344CB8AC3E}">
        <p14:creationId xmlns:p14="http://schemas.microsoft.com/office/powerpoint/2010/main" val="3256828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08176"/>
            <a:ext cx="7886700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37B94-E2BF-44DC-ADC5-B05FC9934E9D}" type="datetime1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Kwartler CSCI S-96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90FF7-652B-4475-AEAB-8B1A5D23AE0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288388" y="1026944"/>
            <a:ext cx="8567225" cy="0"/>
          </a:xfrm>
          <a:prstGeom prst="line">
            <a:avLst/>
          </a:prstGeom>
          <a:ln>
            <a:solidFill>
              <a:srgbClr val="A51C3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209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word cloud?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/>
          <p:cNvPicPr/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16" t="8799" r="12302" b="10606"/>
          <a:stretch/>
        </p:blipFill>
        <p:spPr bwMode="auto">
          <a:xfrm>
            <a:off x="2305668" y="1543324"/>
            <a:ext cx="4532664" cy="47329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156594"/>
            <a:ext cx="8828688" cy="3408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Maligned and overused, a word cloud is a frequency visualization.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85616C1-C45A-E245-8EE5-0AFE85E92FBC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E518DE2-FD71-7747-AEEF-905D94721542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361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512916" y="2025076"/>
            <a:ext cx="8118168" cy="317685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95F845-8979-407C-9F4E-6FBCB9476B2D}"/>
              </a:ext>
            </a:extLst>
          </p:cNvPr>
          <p:cNvSpPr/>
          <p:nvPr/>
        </p:nvSpPr>
        <p:spPr>
          <a:xfrm>
            <a:off x="512916" y="1656073"/>
            <a:ext cx="8118168" cy="365760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“Text mining is so fun.  So do text mining!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Unigram Tokenization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349F3-A8F2-4D17-B849-7F8115A13DC7}"/>
              </a:ext>
            </a:extLst>
          </p:cNvPr>
          <p:cNvSpPr txBox="1"/>
          <p:nvPr/>
        </p:nvSpPr>
        <p:spPr>
          <a:xfrm>
            <a:off x="440250" y="5196043"/>
            <a:ext cx="18902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200" i="1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*with common </a:t>
            </a:r>
            <a:r>
              <a:rPr lang="en-US" sz="1200" i="1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stopwords</a:t>
            </a:r>
            <a:endParaRPr lang="en-US" sz="1200" i="1" kern="1200" dirty="0">
              <a:solidFill>
                <a:prstClr val="black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512380" y="1198603"/>
            <a:ext cx="8119241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Thus far, we have performed unigram tokenization of terms.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EE2E8A-5825-E94E-BAF3-6B45FE58D5A2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9E0A8EA-FC60-D047-B731-CA4FB9098607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B25754CB-FA99-6C3F-2752-4170089D3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3086100"/>
            <a:ext cx="3352800" cy="6858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BDFD06-17B2-3637-EA93-E75FEF3A8DA5}"/>
              </a:ext>
            </a:extLst>
          </p:cNvPr>
          <p:cNvCxnSpPr/>
          <p:nvPr/>
        </p:nvCxnSpPr>
        <p:spPr>
          <a:xfrm>
            <a:off x="4386337" y="3198644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3D77BE0-E84E-B48D-46A4-EC52B05E6BC1}"/>
              </a:ext>
            </a:extLst>
          </p:cNvPr>
          <p:cNvCxnSpPr/>
          <p:nvPr/>
        </p:nvCxnSpPr>
        <p:spPr>
          <a:xfrm>
            <a:off x="5469321" y="3198644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504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2025076"/>
            <a:ext cx="8860219" cy="3582348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95F845-8979-407C-9F4E-6FBCB9476B2D}"/>
              </a:ext>
            </a:extLst>
          </p:cNvPr>
          <p:cNvSpPr/>
          <p:nvPr/>
        </p:nvSpPr>
        <p:spPr>
          <a:xfrm>
            <a:off x="141890" y="1671145"/>
            <a:ext cx="8860220" cy="33107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Within 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Changing Tokenization Schema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130091"/>
            <a:ext cx="8828688" cy="3408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First create a function defining tokenization then add as a control parameter to TDM or DTM.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197069" y="2097871"/>
            <a:ext cx="8749862" cy="73866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#bigram token maker</a:t>
            </a:r>
          </a:p>
          <a:p>
            <a:pPr defTabSz="457200"/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bigramTokens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&lt;-function(x)</a:t>
            </a:r>
          </a:p>
          <a:p>
            <a:pPr defTabSz="457200"/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unlist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lapply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(NLP::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ngrams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(words(x), 2), paste, collapse = " "), 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use.names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= FALSE)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7D424-4DA2-4B6A-970C-CF74FF337084}"/>
              </a:ext>
            </a:extLst>
          </p:cNvPr>
          <p:cNvSpPr/>
          <p:nvPr/>
        </p:nvSpPr>
        <p:spPr>
          <a:xfrm>
            <a:off x="197069" y="2946446"/>
            <a:ext cx="7017252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&lt;-</a:t>
            </a:r>
            <a:r>
              <a:rPr lang="en-US" sz="14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DocumentTermMatr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ix</a:t>
            </a:r>
            <a:r>
              <a:rPr lang="en-US" sz="14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4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txtCorpus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, control=list(tokenize=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bigramTokens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))</a:t>
            </a:r>
          </a:p>
        </p:txBody>
      </p:sp>
      <p:pic>
        <p:nvPicPr>
          <p:cNvPr id="16" name="Picture 2" descr="Image result for NLP  meme">
            <a:extLst>
              <a:ext uri="{FF2B5EF4-FFF2-40B4-BE49-F238E27FC236}">
                <a16:creationId xmlns:a16="http://schemas.microsoft.com/office/drawing/2014/main" id="{8F8F3932-9559-4796-94CE-420F11DB60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54" y="3334794"/>
            <a:ext cx="2238292" cy="2227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0F168D2-8199-6044-8A07-31ED6B36650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C654BCF-9273-FE4D-AC9D-804EC4BE03D9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443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2025076"/>
            <a:ext cx="8860219" cy="317685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F187DC-FA36-64FE-67F2-DD8C88E0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34" y="3842293"/>
            <a:ext cx="7772400" cy="55443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C95F845-8979-407C-9F4E-6FBCB9476B2D}"/>
              </a:ext>
            </a:extLst>
          </p:cNvPr>
          <p:cNvSpPr/>
          <p:nvPr/>
        </p:nvSpPr>
        <p:spPr>
          <a:xfrm>
            <a:off x="141890" y="1671145"/>
            <a:ext cx="8860220" cy="33107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“Text mining is so fun.  So do text mining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97567"/>
            <a:ext cx="9144000" cy="400012"/>
          </a:xfrm>
        </p:spPr>
        <p:txBody>
          <a:bodyPr/>
          <a:lstStyle/>
          <a:p>
            <a:pPr algn="ctr" defTabSz="457200"/>
            <a:r>
              <a:rPr lang="en-US" sz="2000" dirty="0">
                <a:ea typeface="Arial Unicode MS" panose="020B0604020202020204" pitchFamily="34" charset="-128"/>
                <a:cs typeface="Arial Unicode MS" panose="020B0604020202020204" pitchFamily="34" charset="-128"/>
              </a:rPr>
              <a:t>Tokenization is the process of chopping up a string into predefined units called tokens.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157509"/>
            <a:ext cx="8828688" cy="3408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Now the TDM has two terms instead of one.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254029" y="2129410"/>
            <a:ext cx="8633011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#bigram token maker</a:t>
            </a:r>
          </a:p>
          <a:p>
            <a:pPr defTabSz="457200"/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bigramTokens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&lt;-function(x)</a:t>
            </a:r>
          </a:p>
          <a:p>
            <a:pPr defTabSz="457200"/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unlist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lapply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(NLP::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ngrams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(words(x), 2), paste, collapse = " "), 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use.names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= FALSE)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27D424-4DA2-4B6A-970C-CF74FF337084}"/>
              </a:ext>
            </a:extLst>
          </p:cNvPr>
          <p:cNvSpPr/>
          <p:nvPr/>
        </p:nvSpPr>
        <p:spPr>
          <a:xfrm>
            <a:off x="254028" y="2977985"/>
            <a:ext cx="7796033" cy="27699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&lt;-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DocumentTermMatrix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txtCorpus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, control=list(tokenize=</a:t>
            </a:r>
            <a:r>
              <a:rPr lang="en-US" sz="1200" kern="12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bigramTokens</a:t>
            </a:r>
            <a:r>
              <a:rPr lang="en-US" sz="1200" kern="12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))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1650522-D226-6E4A-83F6-16AEC6542291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466ACFB-C18C-8C44-8E0B-8D1B87248CF7}"/>
              </a:ext>
            </a:extLst>
          </p:cNvPr>
          <p:cNvCxnSpPr/>
          <p:nvPr/>
        </p:nvCxnSpPr>
        <p:spPr>
          <a:xfrm>
            <a:off x="7076661" y="3904115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52FB7B4-5660-FCE2-EDEC-E4CCCF579735}"/>
              </a:ext>
            </a:extLst>
          </p:cNvPr>
          <p:cNvCxnSpPr/>
          <p:nvPr/>
        </p:nvCxnSpPr>
        <p:spPr>
          <a:xfrm>
            <a:off x="2266224" y="3842293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E1C17-C09F-D47C-A135-CD5A34C574D3}"/>
              </a:ext>
            </a:extLst>
          </p:cNvPr>
          <p:cNvCxnSpPr/>
          <p:nvPr/>
        </p:nvCxnSpPr>
        <p:spPr>
          <a:xfrm>
            <a:off x="3235738" y="3847221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E22B7B-5215-D16D-8B37-6F3EA133F6B1}"/>
              </a:ext>
            </a:extLst>
          </p:cNvPr>
          <p:cNvCxnSpPr/>
          <p:nvPr/>
        </p:nvCxnSpPr>
        <p:spPr>
          <a:xfrm>
            <a:off x="3985388" y="3842293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9F5C08C-B699-A9B9-B481-7702D9553DA1}"/>
              </a:ext>
            </a:extLst>
          </p:cNvPr>
          <p:cNvCxnSpPr/>
          <p:nvPr/>
        </p:nvCxnSpPr>
        <p:spPr>
          <a:xfrm>
            <a:off x="5235654" y="3842293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98CA4C6-66BC-C622-AAB0-9ABD579426BB}"/>
              </a:ext>
            </a:extLst>
          </p:cNvPr>
          <p:cNvCxnSpPr/>
          <p:nvPr/>
        </p:nvCxnSpPr>
        <p:spPr>
          <a:xfrm>
            <a:off x="6948255" y="3889156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A043536-92AE-649B-8656-FD7A1BE8E9B3}"/>
              </a:ext>
            </a:extLst>
          </p:cNvPr>
          <p:cNvCxnSpPr/>
          <p:nvPr/>
        </p:nvCxnSpPr>
        <p:spPr>
          <a:xfrm>
            <a:off x="5951662" y="3842293"/>
            <a:ext cx="0" cy="4607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6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1176941"/>
            <a:ext cx="8860219" cy="38554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4CE201F-5128-4231-9B1E-A4D42C29CC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38365"/>
              </p:ext>
            </p:extLst>
          </p:nvPr>
        </p:nvGraphicFramePr>
        <p:xfrm>
          <a:off x="533464" y="2646811"/>
          <a:ext cx="4453647" cy="222504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7019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6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0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797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000" dirty="0">
                        <a:latin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Term4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 Unicode MS" panose="020B0604020202020204" pitchFamily="34" charset="-128"/>
                        </a:rPr>
                        <a:t>Term_n</a:t>
                      </a:r>
                      <a:endParaRPr lang="en-US" sz="1000" dirty="0">
                        <a:latin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BA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Doc1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Doc2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Doc3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 err="1">
                          <a:latin typeface="Arial Unicode MS" panose="020B0604020202020204" pitchFamily="34" charset="-128"/>
                        </a:rPr>
                        <a:t>Doc_n</a:t>
                      </a:r>
                      <a:endParaRPr lang="en-US" sz="1000" dirty="0">
                        <a:latin typeface="Arial Unicode MS" panose="020B0604020202020204" pitchFamily="34" charset="-128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 Unicode MS" panose="020B0604020202020204" pitchFamily="34" charset="-128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 make a wordcloud start with a WFM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254029" y="1281275"/>
            <a:ext cx="863301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Get Row Sums &amp; organize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sort(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rowSums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), decreasing = TRUE)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wineDF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 &lt;-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data.frame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(word = names(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),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freq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  <a:endParaRPr lang="en-US" kern="12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24BF5E-7E73-42C2-8E87-C2BA20C0EACF}"/>
              </a:ext>
            </a:extLst>
          </p:cNvPr>
          <p:cNvSpPr txBox="1"/>
          <p:nvPr/>
        </p:nvSpPr>
        <p:spPr>
          <a:xfrm>
            <a:off x="441293" y="2410790"/>
            <a:ext cx="155523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050" i="1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Document </a:t>
            </a:r>
            <a:r>
              <a:rPr lang="en-US" sz="1050" i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Term </a:t>
            </a:r>
            <a:r>
              <a:rPr lang="en-US" sz="1050" i="1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Matrix</a:t>
            </a: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E9613A4-ECF0-4D0F-9696-5C023D56C131}"/>
              </a:ext>
            </a:extLst>
          </p:cNvPr>
          <p:cNvSpPr/>
          <p:nvPr/>
        </p:nvSpPr>
        <p:spPr>
          <a:xfrm rot="5400000">
            <a:off x="4878720" y="3534720"/>
            <a:ext cx="1339350" cy="402476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8162493-A50D-45FF-960A-0540DF7356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185700"/>
              </p:ext>
            </p:extLst>
          </p:nvPr>
        </p:nvGraphicFramePr>
        <p:xfrm>
          <a:off x="6101536" y="2646811"/>
          <a:ext cx="205708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freq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Term_n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438612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A424BF5E-7E73-42C2-8E87-C2BA20C0EACF}"/>
              </a:ext>
            </a:extLst>
          </p:cNvPr>
          <p:cNvSpPr txBox="1"/>
          <p:nvPr/>
        </p:nvSpPr>
        <p:spPr>
          <a:xfrm>
            <a:off x="6017031" y="2437066"/>
            <a:ext cx="122501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/>
            <a:r>
              <a:rPr lang="en-US" sz="1050" i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Word </a:t>
            </a:r>
            <a:r>
              <a:rPr lang="en-US" sz="1050" i="1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Freq</a:t>
            </a:r>
            <a:r>
              <a:rPr lang="en-US" sz="1050" i="1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050" i="1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Matrix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C8E6464-BB7A-0044-A03A-16E72CB0F222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61E8D2-A24D-AD46-8AFD-FDD46848BEB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2573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Then sort it decreasing = TRUE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1017911"/>
            <a:ext cx="8860219" cy="38554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254029" y="1122245"/>
            <a:ext cx="8633011" cy="9233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Get Row Sums &amp; organize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sort(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rowSums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), decreasing = TRUE)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wineDF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 &lt;-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data.frame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(word = names(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),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freq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=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wineTDMv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  <a:endParaRPr lang="en-US" kern="12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FE9613A4-ECF0-4D0F-9696-5C023D56C131}"/>
              </a:ext>
            </a:extLst>
          </p:cNvPr>
          <p:cNvSpPr/>
          <p:nvPr/>
        </p:nvSpPr>
        <p:spPr>
          <a:xfrm rot="5400000">
            <a:off x="3651509" y="3249562"/>
            <a:ext cx="1339350" cy="402476"/>
          </a:xfrm>
          <a:prstGeom prst="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8162493-A50D-45FF-960A-0540DF7356AB}"/>
              </a:ext>
            </a:extLst>
          </p:cNvPr>
          <p:cNvGraphicFramePr>
            <a:graphicFrameLocks noGrp="1"/>
          </p:cNvGraphicFramePr>
          <p:nvPr/>
        </p:nvGraphicFramePr>
        <p:xfrm>
          <a:off x="5092539" y="2361653"/>
          <a:ext cx="205708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freq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Term_n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48162493-A50D-45FF-960A-0540DF7356AB}"/>
              </a:ext>
            </a:extLst>
          </p:cNvPr>
          <p:cNvGraphicFramePr>
            <a:graphicFrameLocks noGrp="1"/>
          </p:cNvGraphicFramePr>
          <p:nvPr/>
        </p:nvGraphicFramePr>
        <p:xfrm>
          <a:off x="1492746" y="2372164"/>
          <a:ext cx="2057083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7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freq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Term3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Arial Unicode MS" panose="020B0604020202020204" pitchFamily="34" charset="-128"/>
                        </a:rPr>
                        <a:t>Term_n</a:t>
                      </a:r>
                      <a:endParaRPr lang="en-US" dirty="0">
                        <a:latin typeface="Arial Unicode MS" panose="020B0604020202020204" pitchFamily="34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Unicode MS" panose="020B0604020202020204" pitchFamily="34" charset="-128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A7DE34-7F03-824A-BC6E-CC885DC78FD2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B178DC-B68C-1149-BEB2-78F5402BDED3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429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Let’s Practice!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8480011-97CA-4140-B847-37A78687DD1B}"/>
              </a:ext>
            </a:extLst>
          </p:cNvPr>
          <p:cNvSpPr txBox="1">
            <a:spLocks/>
          </p:cNvSpPr>
          <p:nvPr/>
        </p:nvSpPr>
        <p:spPr>
          <a:xfrm>
            <a:off x="628650" y="1725003"/>
            <a:ext cx="7886700" cy="591477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/>
              <a:t>B_Simple_WordCloud.R</a:t>
            </a:r>
            <a:endParaRPr lang="en-US" dirty="0"/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57D1E38-3730-47A2-A41E-4A4C20804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CSCI -96</a:t>
            </a:r>
          </a:p>
        </p:txBody>
      </p:sp>
    </p:spTree>
    <p:extLst>
      <p:ext uri="{BB962C8B-B14F-4D97-AF65-F5344CB8AC3E}">
        <p14:creationId xmlns:p14="http://schemas.microsoft.com/office/powerpoint/2010/main" val="132132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178" t="7772" r="25822" b="8662"/>
          <a:stretch/>
        </p:blipFill>
        <p:spPr>
          <a:xfrm>
            <a:off x="300251" y="1428430"/>
            <a:ext cx="4121624" cy="4047803"/>
          </a:xfrm>
          <a:prstGeom prst="rect">
            <a:avLst/>
          </a:prstGeom>
        </p:spPr>
      </p:pic>
      <p:sp>
        <p:nvSpPr>
          <p:cNvPr id="37" name="Title 1"/>
          <p:cNvSpPr>
            <a:spLocks noGrp="1"/>
          </p:cNvSpPr>
          <p:nvPr>
            <p:ph type="title"/>
          </p:nvPr>
        </p:nvSpPr>
        <p:spPr>
          <a:xfrm>
            <a:off x="300251" y="395206"/>
            <a:ext cx="8651785" cy="447263"/>
          </a:xfrm>
        </p:spPr>
        <p:txBody>
          <a:bodyPr>
            <a:noAutofit/>
          </a:bodyPr>
          <a:lstStyle/>
          <a:p>
            <a:pPr algn="l"/>
            <a:r>
              <a:rPr lang="en-US" sz="2000" dirty="0" err="1"/>
              <a:t>B_Simple_WordCloud.R</a:t>
            </a:r>
            <a:endParaRPr lang="en-US" sz="2000" b="1" dirty="0">
              <a:solidFill>
                <a:srgbClr val="13705B"/>
              </a:solidFill>
              <a:latin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03762" y="1677990"/>
            <a:ext cx="451740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9538" indent="-109538" defTabSz="457200">
              <a:buFont typeface="Arial"/>
              <a:buChar char="•"/>
            </a:pP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Bigram Tokenization has captured “</a:t>
            </a:r>
            <a:r>
              <a:rPr lang="en-US" sz="1600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marvin</a:t>
            </a: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600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gaye</a:t>
            </a: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”</a:t>
            </a:r>
          </a:p>
          <a:p>
            <a:pPr marL="109538" indent="-109538" defTabSz="457200">
              <a:buFont typeface="Arial"/>
              <a:buChar char="•"/>
            </a:pPr>
            <a:endParaRPr lang="en-US" sz="1600" kern="1200" dirty="0">
              <a:solidFill>
                <a:prstClr val="black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09538" indent="-109538" defTabSz="457200">
              <a:buFont typeface="Arial"/>
              <a:buChar char="•"/>
            </a:pP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word cloud is a frequency visualization.  The larger the term (or bigram here) the more frequent the term.</a:t>
            </a:r>
          </a:p>
          <a:p>
            <a:pPr marL="109538" indent="-109538" defTabSz="457200">
              <a:buFont typeface="Arial"/>
              <a:buChar char="•"/>
            </a:pPr>
            <a:endParaRPr lang="en-US" sz="1600" kern="1200" dirty="0">
              <a:solidFill>
                <a:prstClr val="black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09538" indent="-109538" defTabSz="457200">
              <a:buFont typeface="Arial"/>
              <a:buChar char="•"/>
            </a:pP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You may get warnings if certain tokens are too large to be plotted in the graphics device.</a:t>
            </a:r>
          </a:p>
          <a:p>
            <a:pPr marL="109538" indent="-109538" defTabSz="457200">
              <a:buFont typeface="Arial"/>
              <a:buChar char="•"/>
            </a:pPr>
            <a:endParaRPr lang="en-US" sz="1600" kern="1200" dirty="0">
              <a:solidFill>
                <a:prstClr val="black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109538" indent="-109538" defTabSz="457200">
              <a:buFont typeface="Arial"/>
              <a:buChar char="•"/>
            </a:pP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</a:t>
            </a:r>
            <a:r>
              <a:rPr lang="en-US" sz="1600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cleanCopurs</a:t>
            </a:r>
            <a:r>
              <a:rPr lang="en-US" sz="1600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 the function … changes numeric with the generic string “number” so be careful with your preprocessing steps!</a:t>
            </a: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4443663" y="1346307"/>
            <a:ext cx="0" cy="450783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8A3BDF-B167-45C0-ABC9-27E91C10C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CSCI -96</a:t>
            </a:r>
          </a:p>
        </p:txBody>
      </p:sp>
    </p:spTree>
    <p:extLst>
      <p:ext uri="{BB962C8B-B14F-4D97-AF65-F5344CB8AC3E}">
        <p14:creationId xmlns:p14="http://schemas.microsoft.com/office/powerpoint/2010/main" val="4242521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4178" t="7772" r="25822" b="8662"/>
          <a:stretch/>
        </p:blipFill>
        <p:spPr>
          <a:xfrm>
            <a:off x="300251" y="1846754"/>
            <a:ext cx="4121624" cy="404780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216397" y="1124908"/>
            <a:ext cx="8510842" cy="64633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 </a:t>
            </a:r>
            <a:r>
              <a:rPr lang="en-US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cleanCorpus</a:t>
            </a:r>
            <a:r>
              <a:rPr lang="en-US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 the function </a:t>
            </a:r>
            <a:r>
              <a:rPr lang="en-US" kern="1200" dirty="0" err="1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replace_symbol</a:t>
            </a:r>
            <a:r>
              <a:rPr lang="en-US" kern="1200" dirty="0">
                <a:solidFill>
                  <a:prstClr val="black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 changes numeric with the generic string “number” so be careful with your preprocessing steps!</a:t>
            </a:r>
          </a:p>
        </p:txBody>
      </p:sp>
      <p:sp>
        <p:nvSpPr>
          <p:cNvPr id="24" name="Oval 23"/>
          <p:cNvSpPr/>
          <p:nvPr/>
        </p:nvSpPr>
        <p:spPr>
          <a:xfrm>
            <a:off x="3232497" y="1113186"/>
            <a:ext cx="1937380" cy="437258"/>
          </a:xfrm>
          <a:prstGeom prst="ellipse">
            <a:avLst/>
          </a:prstGeom>
          <a:noFill/>
          <a:ln w="28575" cmpd="sng">
            <a:solidFill>
              <a:srgbClr val="BA2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26119" t="11075" r="27165" b="9931"/>
          <a:stretch/>
        </p:blipFill>
        <p:spPr>
          <a:xfrm>
            <a:off x="4812612" y="1914992"/>
            <a:ext cx="3914627" cy="3889613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 flipV="1">
            <a:off x="4443663" y="1796717"/>
            <a:ext cx="0" cy="4507832"/>
          </a:xfrm>
          <a:prstGeom prst="line">
            <a:avLst/>
          </a:prstGeom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468173" y="3384198"/>
            <a:ext cx="2142535" cy="358963"/>
          </a:xfrm>
          <a:prstGeom prst="ellipse">
            <a:avLst/>
          </a:prstGeom>
          <a:noFill/>
          <a:ln w="28575" cmpd="sng">
            <a:solidFill>
              <a:srgbClr val="BA2D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C6909B54-736A-45B3-A75F-2AE4084533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CSCI -96</a:t>
            </a:r>
          </a:p>
        </p:txBody>
      </p:sp>
    </p:spTree>
    <p:extLst>
      <p:ext uri="{BB962C8B-B14F-4D97-AF65-F5344CB8AC3E}">
        <p14:creationId xmlns:p14="http://schemas.microsoft.com/office/powerpoint/2010/main" val="2181125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WCs are boring with a single corpus.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286326" y="1290671"/>
            <a:ext cx="2295922" cy="4825781"/>
            <a:chOff x="225365" y="447850"/>
            <a:chExt cx="2295922" cy="4825781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l="4491" t="2469" r="5086" b="4019"/>
            <a:stretch/>
          </p:blipFill>
          <p:spPr>
            <a:xfrm>
              <a:off x="660400" y="3885361"/>
              <a:ext cx="1402665" cy="138827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Oval 7"/>
            <p:cNvSpPr/>
            <p:nvPr/>
          </p:nvSpPr>
          <p:spPr>
            <a:xfrm>
              <a:off x="225365" y="851615"/>
              <a:ext cx="2295922" cy="2295922"/>
            </a:xfrm>
            <a:prstGeom prst="ellipse">
              <a:avLst/>
            </a:prstGeom>
            <a:solidFill>
              <a:srgbClr val="2776B2">
                <a:alpha val="53000"/>
              </a:srgbClr>
            </a:solidFill>
            <a:ln>
              <a:solidFill>
                <a:srgbClr val="1C28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800" kern="1200" dirty="0" err="1">
                  <a:solidFill>
                    <a:prstClr val="white"/>
                  </a:solidFill>
                  <a:latin typeface="Arial Unicode MS" panose="020B0604020202020204" pitchFamily="34" charset="-128"/>
                  <a:cs typeface="Arial Unicode MS" panose="020B0604020202020204" pitchFamily="34" charset="-128"/>
                </a:rPr>
                <a:t>wordcloud</a:t>
              </a:r>
              <a:r>
                <a:rPr lang="en-US" sz="1800" kern="1200" dirty="0">
                  <a:solidFill>
                    <a:prstClr val="white"/>
                  </a:solidFill>
                  <a:latin typeface="Arial Unicode MS" panose="020B0604020202020204" pitchFamily="34" charset="-128"/>
                  <a:cs typeface="Arial Unicode MS" panose="020B0604020202020204" pitchFamily="34" charset="-128"/>
                </a:rPr>
                <a:t>( )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60458" y="447850"/>
              <a:ext cx="1625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Single Corpus</a:t>
              </a:r>
            </a:p>
          </p:txBody>
        </p:sp>
        <p:cxnSp>
          <p:nvCxnSpPr>
            <p:cNvPr id="10" name="Straight Arrow Connector 9"/>
            <p:cNvCxnSpPr/>
            <p:nvPr/>
          </p:nvCxnSpPr>
          <p:spPr>
            <a:xfrm>
              <a:off x="1365833" y="2194560"/>
              <a:ext cx="0" cy="1650078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Image result for word cloud mem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713" y="1504809"/>
            <a:ext cx="3006896" cy="2255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D3651B1-7632-5D4E-9137-3C66FA63FE32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EA89D9-002F-7E44-AE0D-EF48E320501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244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With 2+ Corpora, WCs are more insightful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1980137" y="1089254"/>
            <a:ext cx="4839173" cy="4894072"/>
            <a:chOff x="4063632" y="447850"/>
            <a:chExt cx="4839173" cy="4894072"/>
          </a:xfrm>
        </p:grpSpPr>
        <p:sp>
          <p:nvSpPr>
            <p:cNvPr id="7" name="Oval 6"/>
            <p:cNvSpPr/>
            <p:nvPr/>
          </p:nvSpPr>
          <p:spPr>
            <a:xfrm>
              <a:off x="4063632" y="1590511"/>
              <a:ext cx="2294850" cy="2294850"/>
            </a:xfrm>
            <a:prstGeom prst="ellipse">
              <a:avLst/>
            </a:prstGeom>
            <a:solidFill>
              <a:srgbClr val="2776B2">
                <a:alpha val="53000"/>
              </a:srgbClr>
            </a:solidFill>
            <a:ln>
              <a:solidFill>
                <a:srgbClr val="1C28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8" name="Oval 7"/>
            <p:cNvSpPr/>
            <p:nvPr/>
          </p:nvSpPr>
          <p:spPr>
            <a:xfrm>
              <a:off x="5314265" y="1561976"/>
              <a:ext cx="2294850" cy="2294850"/>
            </a:xfrm>
            <a:prstGeom prst="ellipse">
              <a:avLst/>
            </a:prstGeom>
            <a:solidFill>
              <a:srgbClr val="2776B2">
                <a:alpha val="53000"/>
              </a:srgbClr>
            </a:solidFill>
            <a:ln>
              <a:solidFill>
                <a:srgbClr val="1C28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4688515" y="801251"/>
              <a:ext cx="2294850" cy="2294850"/>
            </a:xfrm>
            <a:prstGeom prst="ellipse">
              <a:avLst/>
            </a:prstGeom>
            <a:solidFill>
              <a:srgbClr val="2776B2">
                <a:alpha val="53000"/>
              </a:srgbClr>
            </a:solidFill>
            <a:ln>
              <a:solidFill>
                <a:srgbClr val="1C283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823430" y="447850"/>
              <a:ext cx="19424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800" kern="1200" dirty="0">
                  <a:solidFill>
                    <a:srgbClr val="F09511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Multiple Corpora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089803" y="1189008"/>
              <a:ext cx="14158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100" kern="1200" dirty="0" err="1">
                  <a:solidFill>
                    <a:prstClr val="black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comparison.cloud</a:t>
              </a:r>
              <a:r>
                <a:rPr lang="en-US" sz="1100" kern="1200" dirty="0">
                  <a:solidFill>
                    <a:prstClr val="black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 )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173836" y="3057372"/>
              <a:ext cx="14158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100" kern="1200" dirty="0" err="1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comparison.cloud</a:t>
              </a:r>
              <a:r>
                <a:rPr lang="en-US" sz="1100" kern="12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 )</a:t>
              </a: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/>
            <a:srcRect l="19795" t="15431" r="18889" b="16741"/>
            <a:stretch/>
          </p:blipFill>
          <p:spPr>
            <a:xfrm>
              <a:off x="5161865" y="3957072"/>
              <a:ext cx="1308096" cy="138485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3027" y="3965029"/>
              <a:ext cx="1629778" cy="13590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4094112" y="3057372"/>
              <a:ext cx="141585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100" kern="1200" dirty="0" err="1">
                  <a:solidFill>
                    <a:prstClr val="black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comparison.cloud</a:t>
              </a:r>
              <a:r>
                <a:rPr lang="en-US" sz="1100" kern="1200" dirty="0">
                  <a:solidFill>
                    <a:prstClr val="black"/>
                  </a:solidFill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 )</a:t>
              </a:r>
            </a:p>
          </p:txBody>
        </p:sp>
        <p:cxnSp>
          <p:nvCxnSpPr>
            <p:cNvPr id="16" name="Elbow Connector 15"/>
            <p:cNvCxnSpPr>
              <a:stCxn id="12" idx="3"/>
              <a:endCxn id="14" idx="0"/>
            </p:cNvCxnSpPr>
            <p:nvPr/>
          </p:nvCxnSpPr>
          <p:spPr>
            <a:xfrm>
              <a:off x="7589693" y="3188177"/>
              <a:ext cx="498223" cy="776852"/>
            </a:xfrm>
            <a:prstGeom prst="bentConnector2">
              <a:avLst/>
            </a:prstGeom>
            <a:ln>
              <a:solidFill>
                <a:schemeClr val="accent2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Elbow Connector 16"/>
            <p:cNvCxnSpPr>
              <a:stCxn id="11" idx="3"/>
              <a:endCxn id="14" idx="0"/>
            </p:cNvCxnSpPr>
            <p:nvPr/>
          </p:nvCxnSpPr>
          <p:spPr>
            <a:xfrm>
              <a:off x="6505660" y="1319813"/>
              <a:ext cx="1582256" cy="2645216"/>
            </a:xfrm>
            <a:prstGeom prst="bentConnector2">
              <a:avLst/>
            </a:prstGeom>
            <a:ln>
              <a:solidFill>
                <a:schemeClr val="accent2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endCxn id="13" idx="0"/>
            </p:cNvCxnSpPr>
            <p:nvPr/>
          </p:nvCxnSpPr>
          <p:spPr>
            <a:xfrm>
              <a:off x="5815913" y="2905760"/>
              <a:ext cx="0" cy="1051312"/>
            </a:xfrm>
            <a:prstGeom prst="straightConnector1">
              <a:avLst/>
            </a:prstGeom>
            <a:ln>
              <a:solidFill>
                <a:schemeClr val="accent2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 rot="16200000">
              <a:off x="5128545" y="2242846"/>
              <a:ext cx="135868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57200"/>
              <a:r>
                <a:rPr lang="en-US" sz="1000" kern="1200" dirty="0" err="1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commonality.cloud</a:t>
              </a:r>
              <a:r>
                <a:rPr lang="en-US" sz="1000" kern="12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( )</a:t>
              </a:r>
            </a:p>
          </p:txBody>
        </p: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A8C95DC-C064-8641-8C5E-E4C24892415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1AA8A86-25D4-C449-9941-39DFA6F7D5FB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23244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Dealing with many text files is tricky.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1599398"/>
            <a:ext cx="8860219" cy="262804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C95F845-8979-407C-9F4E-6FBCB9476B2D}"/>
              </a:ext>
            </a:extLst>
          </p:cNvPr>
          <p:cNvSpPr/>
          <p:nvPr/>
        </p:nvSpPr>
        <p:spPr>
          <a:xfrm>
            <a:off x="141890" y="1245467"/>
            <a:ext cx="8860220" cy="331076"/>
          </a:xfrm>
          <a:prstGeom prst="rect">
            <a:avLst/>
          </a:prstGeom>
          <a:solidFill>
            <a:schemeClr val="accent3"/>
          </a:solidFill>
          <a:ln w="952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There are many options including custom functions </a:t>
            </a:r>
            <a:r>
              <a:rPr lang="en-US" sz="1200" b="1" dirty="0" err="1">
                <a:solidFill>
                  <a:schemeClr val="bg1"/>
                </a:solidFill>
              </a:rPr>
              <a:t>lapply</a:t>
            </a:r>
            <a:r>
              <a:rPr lang="en-US" sz="1200" b="1" dirty="0">
                <a:solidFill>
                  <a:schemeClr val="bg1"/>
                </a:solidFill>
              </a:rPr>
              <a:t> and here is a loop so we can learn step by step.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254029" y="1703732"/>
            <a:ext cx="8633011" cy="304698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chardonnay &lt;- '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chardonnay.csv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'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coffee     &lt;- '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coffee.csv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'</a:t>
            </a:r>
          </a:p>
          <a:p>
            <a:pPr defTabSz="457200"/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txtFiles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c(chardonnay, coffee)</a:t>
            </a:r>
          </a:p>
          <a:p>
            <a:pPr defTabSz="457200"/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Topic names</a:t>
            </a:r>
          </a:p>
          <a:p>
            <a:pPr defTabSz="457200"/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topicNames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c('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chardonnay','coffee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’)</a:t>
            </a:r>
          </a:p>
          <a:p>
            <a:pPr defTabSz="457200"/>
            <a:endParaRPr lang="en-US" sz="1600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Read in the files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for (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in 1:length(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txtFiles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)){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assign(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topicNames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], 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read.csv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txtFiles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]))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cat(paste('read completed:',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txtFiles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i</a:t>
            </a:r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],'\n'))</a:t>
            </a:r>
          </a:p>
          <a:p>
            <a:pPr defTabSz="457200"/>
            <a:r>
              <a:rPr lang="en-US" sz="1600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5876940"/>
            <a:ext cx="8828688" cy="3408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Using a loop each file is an individual object while </a:t>
            </a:r>
            <a:r>
              <a:rPr lang="en-US" sz="1600" dirty="0" err="1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lapply</a:t>
            </a:r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 would return a list with two elements.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808727-3CEC-3641-9961-FD7ADEAE8827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A94917D-5BA6-2946-A840-A8DED6CB19C0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888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Manipulating multiple corpora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6" name="Picture 2" descr="Image result for document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761" y="1682660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306208" y="961242"/>
            <a:ext cx="26152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Combined/Collapsed </a:t>
            </a:r>
          </a:p>
          <a:p>
            <a:pPr algn="ctr"/>
            <a:r>
              <a:rPr lang="en-US" b="1" u="sng" dirty="0"/>
              <a:t>into a 2 document corpus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146" y="1245022"/>
            <a:ext cx="24091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/>
              <a:t>CorpusA</a:t>
            </a:r>
            <a:r>
              <a:rPr lang="en-US" b="1" u="sng" dirty="0"/>
              <a:t> – 1000 Tweets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-1" y="1599580"/>
            <a:ext cx="3008243" cy="825575"/>
            <a:chOff x="2393494" y="2948152"/>
            <a:chExt cx="3008243" cy="825575"/>
          </a:xfrm>
        </p:grpSpPr>
        <p:grpSp>
          <p:nvGrpSpPr>
            <p:cNvPr id="10" name="Group 9"/>
            <p:cNvGrpSpPr/>
            <p:nvPr/>
          </p:nvGrpSpPr>
          <p:grpSpPr>
            <a:xfrm>
              <a:off x="2511573" y="3074532"/>
              <a:ext cx="2736003" cy="572814"/>
              <a:chOff x="2538396" y="3039060"/>
              <a:chExt cx="2736003" cy="572814"/>
            </a:xfrm>
          </p:grpSpPr>
          <p:pic>
            <p:nvPicPr>
              <p:cNvPr id="12" name="Picture 2" descr="Image result for document icon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66941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2" descr="Image result for document icon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38396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 descr="Image result for document icon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1585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2" descr="Image result for document icon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6293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2" descr="Image result for document icon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6617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1" name="Rounded Rectangle 10"/>
            <p:cNvSpPr/>
            <p:nvPr/>
          </p:nvSpPr>
          <p:spPr>
            <a:xfrm>
              <a:off x="2393494" y="2948152"/>
              <a:ext cx="3008243" cy="825575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292955" y="3187610"/>
            <a:ext cx="2399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 err="1"/>
              <a:t>CorpusB</a:t>
            </a:r>
            <a:r>
              <a:rPr lang="en-US" b="1" u="sng" dirty="0"/>
              <a:t> – 1000 Tweets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151392" y="1647844"/>
            <a:ext cx="3058511" cy="69368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&amp; Collapse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124888" y="3567127"/>
            <a:ext cx="3058511" cy="693683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 &amp; Collapse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38823" y="1612599"/>
            <a:ext cx="1749972" cy="3038914"/>
          </a:xfrm>
          <a:prstGeom prst="round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" descr="Image result for document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761" y="3466909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EC3254C-1925-7F41-8A43-DBAC6D44A709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D7B3A5F-49B5-1648-A77E-C5C4D988FD47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73FE44A-9F88-734F-8D23-FFB10CFA7D60}"/>
              </a:ext>
            </a:extLst>
          </p:cNvPr>
          <p:cNvGrpSpPr/>
          <p:nvPr/>
        </p:nvGrpSpPr>
        <p:grpSpPr>
          <a:xfrm>
            <a:off x="0" y="3527766"/>
            <a:ext cx="3008243" cy="825575"/>
            <a:chOff x="2393494" y="2948152"/>
            <a:chExt cx="3008243" cy="825575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7D4849A-1539-984E-9B85-8F70502119D9}"/>
                </a:ext>
              </a:extLst>
            </p:cNvPr>
            <p:cNvGrpSpPr/>
            <p:nvPr/>
          </p:nvGrpSpPr>
          <p:grpSpPr>
            <a:xfrm>
              <a:off x="2511573" y="3074532"/>
              <a:ext cx="2736003" cy="572814"/>
              <a:chOff x="2538396" y="3039060"/>
              <a:chExt cx="2736003" cy="572814"/>
            </a:xfrm>
          </p:grpSpPr>
          <p:pic>
            <p:nvPicPr>
              <p:cNvPr id="42" name="Picture 2" descr="Image result for document icon">
                <a:extLst>
                  <a:ext uri="{FF2B5EF4-FFF2-40B4-BE49-F238E27FC236}">
                    <a16:creationId xmlns:a16="http://schemas.microsoft.com/office/drawing/2014/main" id="{E8F73898-D105-984F-A07C-C1875831E9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66941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3" name="Picture 2" descr="Image result for document icon">
                <a:extLst>
                  <a:ext uri="{FF2B5EF4-FFF2-40B4-BE49-F238E27FC236}">
                    <a16:creationId xmlns:a16="http://schemas.microsoft.com/office/drawing/2014/main" id="{EFB51C31-6582-6C48-ADE8-54D7BE0C1C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38396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2" descr="Image result for document icon">
                <a:extLst>
                  <a:ext uri="{FF2B5EF4-FFF2-40B4-BE49-F238E27FC236}">
                    <a16:creationId xmlns:a16="http://schemas.microsoft.com/office/drawing/2014/main" id="{0C71A069-BF77-AC46-ACFD-392DA1ED37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701585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2" descr="Image result for document icon">
                <a:extLst>
                  <a:ext uri="{FF2B5EF4-FFF2-40B4-BE49-F238E27FC236}">
                    <a16:creationId xmlns:a16="http://schemas.microsoft.com/office/drawing/2014/main" id="{13C7D2AF-2006-AC47-87B0-02A4E90D69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86293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2" descr="Image result for document icon">
                <a:extLst>
                  <a:ext uri="{FF2B5EF4-FFF2-40B4-BE49-F238E27FC236}">
                    <a16:creationId xmlns:a16="http://schemas.microsoft.com/office/drawing/2014/main" id="{C95E6A5F-5399-AA49-B02B-E59FEA5E1A2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626617" y="3039060"/>
                <a:ext cx="572814" cy="5728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1" name="Rounded Rectangle 40">
              <a:extLst>
                <a:ext uri="{FF2B5EF4-FFF2-40B4-BE49-F238E27FC236}">
                  <a16:creationId xmlns:a16="http://schemas.microsoft.com/office/drawing/2014/main" id="{71EDE7D1-6797-9149-A68F-D69F9135976A}"/>
                </a:ext>
              </a:extLst>
            </p:cNvPr>
            <p:cNvSpPr/>
            <p:nvPr/>
          </p:nvSpPr>
          <p:spPr>
            <a:xfrm>
              <a:off x="2393494" y="2948152"/>
              <a:ext cx="3008243" cy="825575"/>
            </a:xfrm>
            <a:prstGeom prst="roundRect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56923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new WC will examine inner and disjoins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14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799259" y="2281575"/>
            <a:ext cx="3545483" cy="2294850"/>
            <a:chOff x="4469945" y="1539730"/>
            <a:chExt cx="3545483" cy="2294850"/>
          </a:xfrm>
        </p:grpSpPr>
        <p:sp>
          <p:nvSpPr>
            <p:cNvPr id="9" name="Oval 8"/>
            <p:cNvSpPr/>
            <p:nvPr/>
          </p:nvSpPr>
          <p:spPr>
            <a:xfrm>
              <a:off x="4469945" y="1539730"/>
              <a:ext cx="2294850" cy="229485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720578" y="1539730"/>
              <a:ext cx="2294850" cy="2294850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800" kern="1200" dirty="0">
                <a:solidFill>
                  <a:prstClr val="white"/>
                </a:solidFill>
                <a:latin typeface="Arial Unicode MS" panose="020B0604020202020204" pitchFamily="34" charset="-128"/>
              </a:endParaRPr>
            </a:p>
          </p:txBody>
        </p:sp>
        <p:pic>
          <p:nvPicPr>
            <p:cNvPr id="11" name="Picture 2" descr="Image result for document icon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65271" y="2214107"/>
              <a:ext cx="946096" cy="946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2" descr="Image result for document icon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04582" y="2214107"/>
              <a:ext cx="946096" cy="9460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908BD7F-74F5-FF4C-BC2E-26798FDC78EE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ABF0BB3-2992-974A-9F32-A64ED69B38E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7627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tokens are in common?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767" y="1467972"/>
            <a:ext cx="3333750" cy="3248025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387135" y="1897263"/>
            <a:ext cx="2294850" cy="2294850"/>
          </a:xfrm>
          <a:prstGeom prst="ellipse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637768" y="1897263"/>
            <a:ext cx="2294850" cy="2294850"/>
          </a:xfrm>
          <a:prstGeom prst="ellipse">
            <a:avLst/>
          </a:prstGeom>
          <a:noFill/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pic>
        <p:nvPicPr>
          <p:cNvPr id="10" name="Picture 2" descr="Image result for document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61" y="2571640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document ic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772" y="2571640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Freeform 13"/>
          <p:cNvSpPr/>
          <p:nvPr/>
        </p:nvSpPr>
        <p:spPr>
          <a:xfrm>
            <a:off x="1648279" y="2093884"/>
            <a:ext cx="1044217" cy="1922633"/>
          </a:xfrm>
          <a:custGeom>
            <a:avLst/>
            <a:gdLst>
              <a:gd name="connsiteX0" fmla="*/ 522109 w 1044217"/>
              <a:gd name="connsiteY0" fmla="*/ 0 h 1922633"/>
              <a:gd name="connsiteX1" fmla="*/ 538328 w 1044217"/>
              <a:gd name="connsiteY1" fmla="*/ 9853 h 1922633"/>
              <a:gd name="connsiteX2" fmla="*/ 1044217 w 1044217"/>
              <a:gd name="connsiteY2" fmla="*/ 961316 h 1922633"/>
              <a:gd name="connsiteX3" fmla="*/ 538328 w 1044217"/>
              <a:gd name="connsiteY3" fmla="*/ 1912779 h 1922633"/>
              <a:gd name="connsiteX4" fmla="*/ 522109 w 1044217"/>
              <a:gd name="connsiteY4" fmla="*/ 1922633 h 1922633"/>
              <a:gd name="connsiteX5" fmla="*/ 505889 w 1044217"/>
              <a:gd name="connsiteY5" fmla="*/ 1912779 h 1922633"/>
              <a:gd name="connsiteX6" fmla="*/ 0 w 1044217"/>
              <a:gd name="connsiteY6" fmla="*/ 961316 h 1922633"/>
              <a:gd name="connsiteX7" fmla="*/ 505889 w 1044217"/>
              <a:gd name="connsiteY7" fmla="*/ 9853 h 192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44217" h="1922633">
                <a:moveTo>
                  <a:pt x="522109" y="0"/>
                </a:moveTo>
                <a:lnTo>
                  <a:pt x="538328" y="9853"/>
                </a:lnTo>
                <a:cubicBezTo>
                  <a:pt x="843545" y="216054"/>
                  <a:pt x="1044217" y="565251"/>
                  <a:pt x="1044217" y="961316"/>
                </a:cubicBezTo>
                <a:cubicBezTo>
                  <a:pt x="1044217" y="1357382"/>
                  <a:pt x="843545" y="1706578"/>
                  <a:pt x="538328" y="1912779"/>
                </a:cubicBezTo>
                <a:lnTo>
                  <a:pt x="522109" y="1922633"/>
                </a:lnTo>
                <a:lnTo>
                  <a:pt x="505889" y="1912779"/>
                </a:lnTo>
                <a:cubicBezTo>
                  <a:pt x="200672" y="1706578"/>
                  <a:pt x="0" y="1357382"/>
                  <a:pt x="0" y="961316"/>
                </a:cubicBezTo>
                <a:cubicBezTo>
                  <a:pt x="0" y="565251"/>
                  <a:pt x="200672" y="216054"/>
                  <a:pt x="505889" y="9853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D387FF-F19C-0344-A809-8F897502B9CF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67D0F9-68E8-9647-8022-E9DE7BB17D40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662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6FFA28-2AFC-46BA-97EC-72EA43A5F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28C5AC-3677-4E2E-BC72-2BFCF0C6A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Lets make some improved word clouds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2D24EB-6B7F-42DA-A05B-461AF5085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8E680-27F4-40BF-A3FC-AF16D46EC879}"/>
              </a:ext>
            </a:extLst>
          </p:cNvPr>
          <p:cNvSpPr txBox="1"/>
          <p:nvPr/>
        </p:nvSpPr>
        <p:spPr>
          <a:xfrm>
            <a:off x="628650" y="1699846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 </a:t>
            </a:r>
            <a:r>
              <a:rPr lang="en-US" dirty="0" err="1"/>
              <a:t>C_CommonalityCloud.R</a:t>
            </a:r>
            <a:endParaRPr lang="en-US" dirty="0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4F1328A-6AF5-418A-8C98-E9C4B493CF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 dirty="0"/>
              <a:t>Kwartler CSCI -96</a:t>
            </a:r>
          </a:p>
        </p:txBody>
      </p:sp>
      <p:pic>
        <p:nvPicPr>
          <p:cNvPr id="8" name="Picture 2" descr="Image result for nlp  meme">
            <a:extLst>
              <a:ext uri="{FF2B5EF4-FFF2-40B4-BE49-F238E27FC236}">
                <a16:creationId xmlns:a16="http://schemas.microsoft.com/office/drawing/2014/main" id="{A1674E6A-9505-8141-BCDE-AA15BDDC5D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130" y="2269741"/>
            <a:ext cx="3296172" cy="3296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6579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89185" y="97108"/>
            <a:ext cx="8734097" cy="591477"/>
          </a:xfrm>
        </p:spPr>
        <p:txBody>
          <a:bodyPr/>
          <a:lstStyle/>
          <a:p>
            <a:r>
              <a:rPr lang="en-US" dirty="0"/>
              <a:t>Introducing TF-IDF Term Frequency Inverse Document Frequency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129855"/>
            <a:ext cx="8828688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So far, you have used simple term frequency to identify informative words. </a:t>
            </a:r>
            <a:r>
              <a:rPr lang="en-US" sz="1600" dirty="0">
                <a:solidFill>
                  <a:prstClr val="white"/>
                </a:solidFill>
                <a:ea typeface="Arial Unicode MS" panose="020B0604020202020204" pitchFamily="34" charset="-128"/>
                <a:cs typeface="Arial Unicode MS" panose="020B0604020202020204" pitchFamily="34" charset="-128"/>
              </a:rPr>
              <a:t>Chardonnay is highly frequent in the tweets, but since it appears in all documents it isn’t informative.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5666" y="1749966"/>
            <a:ext cx="45926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Term frequency * inverse-document-frequency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8994" y="2827276"/>
            <a:ext cx="25697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a term appears often, it must be important to the corpus.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4042" y="2827276"/>
            <a:ext cx="29534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But, if a term appear in many documents, it can’t be distinctive or informative</a:t>
            </a:r>
          </a:p>
        </p:txBody>
      </p:sp>
      <p:sp>
        <p:nvSpPr>
          <p:cNvPr id="18" name="Up Arrow 17"/>
          <p:cNvSpPr/>
          <p:nvPr/>
        </p:nvSpPr>
        <p:spPr>
          <a:xfrm>
            <a:off x="1939158" y="3678614"/>
            <a:ext cx="457200" cy="1103586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/>
          <p:cNvCxnSpPr>
            <a:endCxn id="11" idx="0"/>
          </p:cNvCxnSpPr>
          <p:nvPr/>
        </p:nvCxnSpPr>
        <p:spPr>
          <a:xfrm flipH="1">
            <a:off x="2293884" y="2159869"/>
            <a:ext cx="843454" cy="667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Up Arrow 20"/>
          <p:cNvSpPr/>
          <p:nvPr/>
        </p:nvSpPr>
        <p:spPr>
          <a:xfrm flipV="1">
            <a:off x="5764923" y="3678614"/>
            <a:ext cx="457200" cy="1103586"/>
          </a:xfrm>
          <a:prstGeom prst="up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endCxn id="15" idx="0"/>
          </p:cNvCxnSpPr>
          <p:nvPr/>
        </p:nvCxnSpPr>
        <p:spPr>
          <a:xfrm>
            <a:off x="5376041" y="2081042"/>
            <a:ext cx="714704" cy="746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702677" y="4411717"/>
            <a:ext cx="1025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Increasing</a:t>
            </a:r>
          </a:p>
          <a:p>
            <a:pPr algn="ctr"/>
            <a:r>
              <a:rPr lang="en-US" sz="1400" dirty="0"/>
              <a:t>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12677" y="4411717"/>
            <a:ext cx="10256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Offsetting</a:t>
            </a:r>
          </a:p>
          <a:p>
            <a:r>
              <a:rPr lang="en-US" sz="1400" dirty="0"/>
              <a:t>importance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9FC4BD-A0F1-B04C-A4FB-AE92762E02B8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209444C-52BF-B743-9D9D-830988D158E8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762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8" grpId="0" animBg="1"/>
      <p:bldP spid="21" grpId="0" animBg="1"/>
      <p:bldP spid="24" grpId="0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TF of TF-IDF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209147"/>
            <a:ext cx="8828688" cy="5847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Term Frequency isn’t just a count.  It is normalized because unique  terms will naturally increase the longer the document.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3941" y="2932378"/>
            <a:ext cx="7596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Term frequency = Term Occurrence / total unique terms in a document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D42AD2-9023-E446-9F24-C7B709323490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EB9E91A-EF9D-4B42-ABB9-60053F0CB9DA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092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Inverse Document Frequency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262156"/>
            <a:ext cx="8828688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IDF is the natural log of total documents divided by the number of documents containing a specific token.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7256" y="2932378"/>
            <a:ext cx="86694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Inverse Document Frequency = </a:t>
            </a:r>
          </a:p>
          <a:p>
            <a:r>
              <a:rPr lang="en-US" sz="2000" b="1" i="1" dirty="0"/>
              <a:t>	log(total documents in corpus / number of documents with term in it)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C85DD30-A42D-CD46-A153-646C0EDE7ECA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5638C52-1BCD-DA4F-95A4-C58C2A40532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39099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 Frequency </a:t>
            </a:r>
            <a:r>
              <a:rPr lang="en-US" sz="2400" dirty="0">
                <a:solidFill>
                  <a:srgbClr val="FF0000"/>
                </a:solidFill>
              </a:rPr>
              <a:t>[not quite frequency from before]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15754" y="3059668"/>
            <a:ext cx="89125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In 1000 documents, each with 10 words suppose token “coffee” occurs 1 time per document.</a:t>
            </a:r>
            <a:endParaRPr lang="en-US" sz="2400" b="1" i="1" dirty="0"/>
          </a:p>
          <a:p>
            <a:pPr algn="ctr"/>
            <a:r>
              <a:rPr lang="en-US" sz="2400" b="1" i="1" dirty="0"/>
              <a:t>TF = 1 time in a document / 10 unique terms in a document</a:t>
            </a:r>
          </a:p>
          <a:p>
            <a:pPr algn="ctr"/>
            <a:r>
              <a:rPr lang="en-US" sz="2400" b="1" i="1" dirty="0"/>
              <a:t>TF = 1/10</a:t>
            </a:r>
          </a:p>
          <a:p>
            <a:pPr algn="ctr"/>
            <a:r>
              <a:rPr lang="en-US" sz="2400" b="1" i="1" dirty="0"/>
              <a:t>TF = 0.10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576A44B-07B6-EF4C-9CC2-21E5F961E314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350BD2-33E4-094D-8AB5-70C60415B4CF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D98F603-7088-AE70-DDDA-6D58EFCABA7B}"/>
              </a:ext>
            </a:extLst>
          </p:cNvPr>
          <p:cNvSpPr txBox="1"/>
          <p:nvPr/>
        </p:nvSpPr>
        <p:spPr>
          <a:xfrm>
            <a:off x="773941" y="1808080"/>
            <a:ext cx="75961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Term frequency = Term Occurrence / total unique terms in a document</a:t>
            </a:r>
          </a:p>
        </p:txBody>
      </p:sp>
    </p:spTree>
    <p:extLst>
      <p:ext uri="{BB962C8B-B14F-4D97-AF65-F5344CB8AC3E}">
        <p14:creationId xmlns:p14="http://schemas.microsoft.com/office/powerpoint/2010/main" val="2533428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C13A7-8EA5-0154-B126-72E8560C6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t>4/20/26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A84406-C8AD-3AFF-1E2A-60AB1AC4C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Inverse Document Frequency of TF-IDF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8E51C6-73AD-92F5-8F6B-AE6813A2D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90FF7-652B-4475-AEAB-8B1A5D23AE09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EFEC4-3DA0-F702-3E1B-17074F457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 CSCI E-96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C929FF-22F0-5CDE-3865-5DFAF7921BBD}"/>
              </a:ext>
            </a:extLst>
          </p:cNvPr>
          <p:cNvSpPr txBox="1"/>
          <p:nvPr/>
        </p:nvSpPr>
        <p:spPr>
          <a:xfrm>
            <a:off x="237255" y="1874140"/>
            <a:ext cx="86694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Inverse Document Frequency = </a:t>
            </a:r>
          </a:p>
          <a:p>
            <a:r>
              <a:rPr lang="en-US" sz="2000" b="1" i="1" dirty="0"/>
              <a:t>	log(total documents in corpus / number of documents with term in it)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D9349E-8480-55F0-4719-270AF9E1082F}"/>
              </a:ext>
            </a:extLst>
          </p:cNvPr>
          <p:cNvSpPr txBox="1"/>
          <p:nvPr/>
        </p:nvSpPr>
        <p:spPr>
          <a:xfrm>
            <a:off x="80577" y="3145620"/>
            <a:ext cx="89828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Since there are 1000 documents, and all 1000 have ”coffee”</a:t>
            </a:r>
          </a:p>
          <a:p>
            <a:r>
              <a:rPr lang="en-US" sz="2000" b="1" i="1" dirty="0"/>
              <a:t>	IDF = log(total documents in corpus / number of documents with term in it)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E412A-32BF-742A-38FC-6A1920688676}"/>
              </a:ext>
            </a:extLst>
          </p:cNvPr>
          <p:cNvSpPr txBox="1"/>
          <p:nvPr/>
        </p:nvSpPr>
        <p:spPr>
          <a:xfrm>
            <a:off x="80577" y="3750083"/>
            <a:ext cx="339868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	IDF = log(1000/ 1000)</a:t>
            </a:r>
          </a:p>
          <a:p>
            <a:r>
              <a:rPr lang="en-US" sz="2000" b="1" i="1" dirty="0"/>
              <a:t>	IDF = log(1)</a:t>
            </a:r>
          </a:p>
          <a:p>
            <a:r>
              <a:rPr lang="en-US" sz="2000" b="1" i="1" dirty="0"/>
              <a:t>	IDF = 0</a:t>
            </a:r>
          </a:p>
        </p:txBody>
      </p:sp>
    </p:spTree>
    <p:extLst>
      <p:ext uri="{BB962C8B-B14F-4D97-AF65-F5344CB8AC3E}">
        <p14:creationId xmlns:p14="http://schemas.microsoft.com/office/powerpoint/2010/main" val="11516066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TF-IDF Simple Example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3063" y="1700208"/>
            <a:ext cx="79023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Coffee occurs 1 time in all documents, and each document is 1000 words.</a:t>
            </a:r>
          </a:p>
          <a:p>
            <a:r>
              <a:rPr lang="en-US" sz="2400" b="1" i="1" dirty="0"/>
              <a:t>TF = 0.10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63063" y="1227885"/>
            <a:ext cx="9017875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With simple word frequency “coffee” will be 1000 and look important.  But TF-IDF penalizes this.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555764" y="3663138"/>
            <a:ext cx="3086097" cy="7252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Log 1 = 0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00257F-1559-C042-A430-86C2244CE06D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098380-42B6-B848-9E2E-14946809B89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4CD0BD9-535F-8CC1-EF84-CEF8AB06B7A4}"/>
              </a:ext>
            </a:extLst>
          </p:cNvPr>
          <p:cNvSpPr txBox="1"/>
          <p:nvPr/>
        </p:nvSpPr>
        <p:spPr>
          <a:xfrm>
            <a:off x="80577" y="3750083"/>
            <a:ext cx="5345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Coffee occurs across all documents in the corpus.</a:t>
            </a:r>
          </a:p>
          <a:p>
            <a:r>
              <a:rPr lang="en-US" sz="2000" b="1" i="1" dirty="0"/>
              <a:t>IDF = 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E71AEC-1C7B-D735-C4A0-4BA2C0BC5B48}"/>
              </a:ext>
            </a:extLst>
          </p:cNvPr>
          <p:cNvSpPr txBox="1"/>
          <p:nvPr/>
        </p:nvSpPr>
        <p:spPr>
          <a:xfrm>
            <a:off x="80577" y="4984170"/>
            <a:ext cx="53455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/>
              <a:t>Coffee occurs across all documents in the corpus.</a:t>
            </a:r>
          </a:p>
          <a:p>
            <a:r>
              <a:rPr lang="en-US" sz="2000" b="1" i="1" dirty="0"/>
              <a:t>TF*IDF = 0.10*0</a:t>
            </a:r>
          </a:p>
          <a:p>
            <a:r>
              <a:rPr lang="en-US" sz="2000" b="1" i="1" dirty="0"/>
              <a:t>TF*IDF = 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6A5FD1-370E-72AA-C441-EF8018EC566A}"/>
              </a:ext>
            </a:extLst>
          </p:cNvPr>
          <p:cNvSpPr/>
          <p:nvPr/>
        </p:nvSpPr>
        <p:spPr>
          <a:xfrm>
            <a:off x="5524748" y="2068182"/>
            <a:ext cx="3117113" cy="7252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Coffee accounts for 10% of the unique terms.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C17897-1285-EBD7-E4EB-2F1C3B88E277}"/>
              </a:ext>
            </a:extLst>
          </p:cNvPr>
          <p:cNvSpPr/>
          <p:nvPr/>
        </p:nvSpPr>
        <p:spPr>
          <a:xfrm>
            <a:off x="5524748" y="5129394"/>
            <a:ext cx="3086097" cy="72521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TF IDF has a value of 0, ”coffee” has no novelty or insight.</a:t>
            </a:r>
          </a:p>
        </p:txBody>
      </p:sp>
    </p:spTree>
    <p:extLst>
      <p:ext uri="{BB962C8B-B14F-4D97-AF65-F5344CB8AC3E}">
        <p14:creationId xmlns:p14="http://schemas.microsoft.com/office/powerpoint/2010/main" val="215537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Applying TF-IDF to a DTM/TDM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46B7D1-453D-487B-B491-889C15C460F6}"/>
              </a:ext>
            </a:extLst>
          </p:cNvPr>
          <p:cNvSpPr/>
          <p:nvPr/>
        </p:nvSpPr>
        <p:spPr>
          <a:xfrm>
            <a:off x="141891" y="1599398"/>
            <a:ext cx="8860219" cy="3855462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900" tIns="88900" rIns="88900" bIns="88900" rtlCol="0" anchor="t" anchorCtr="0"/>
          <a:lstStyle/>
          <a:p>
            <a:pPr defTabSz="457200"/>
            <a:endParaRPr lang="en-US" sz="1000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96FE2F-7E19-48CB-9942-7E78DB569A67}"/>
              </a:ext>
            </a:extLst>
          </p:cNvPr>
          <p:cNvSpPr/>
          <p:nvPr/>
        </p:nvSpPr>
        <p:spPr>
          <a:xfrm>
            <a:off x="254029" y="1703732"/>
            <a:ext cx="8633011" cy="230832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Control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Paramter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ctrl      &lt;- list(weighting =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weightTfIdf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</a:p>
          <a:p>
            <a:pPr defTabSz="457200"/>
            <a:endParaRPr lang="en-US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Apply in TDM/DTM construction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drinkTDM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 &lt;-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DocumentTermMatrix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allDrinks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, control = ctrl)</a:t>
            </a:r>
          </a:p>
          <a:p>
            <a:pPr defTabSz="457200"/>
            <a:endParaRPr lang="en-US" dirty="0">
              <a:solidFill>
                <a:prstClr val="black"/>
              </a:solidFill>
              <a:latin typeface="Consolas" panose="020B0609020204030204" pitchFamily="49" charset="0"/>
              <a:ea typeface="Arial Unicode MS" panose="020B0604020202020204" pitchFamily="34" charset="-128"/>
              <a:cs typeface="Consolas" panose="020B0609020204030204" pitchFamily="49" charset="0"/>
            </a:endParaRPr>
          </a:p>
          <a:p>
            <a:pPr defTabSz="457200"/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# Change to a simple matrix</a:t>
            </a:r>
          </a:p>
          <a:p>
            <a:pPr defTabSz="457200"/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drinkTDMm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 &lt;- 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as.matrix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(</a:t>
            </a:r>
            <a:r>
              <a:rPr lang="en-US" dirty="0" err="1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drinkTDM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ea typeface="Arial Unicode MS" panose="020B0604020202020204" pitchFamily="34" charset="-128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3EE36-0573-4214-8E8B-E9BD628BC999}"/>
              </a:ext>
            </a:extLst>
          </p:cNvPr>
          <p:cNvSpPr txBox="1"/>
          <p:nvPr/>
        </p:nvSpPr>
        <p:spPr>
          <a:xfrm>
            <a:off x="157656" y="1196351"/>
            <a:ext cx="8828688" cy="34080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 defTabSz="457200"/>
            <a:r>
              <a:rPr lang="en-US" sz="1600" dirty="0">
                <a:solidFill>
                  <a:prstClr val="white"/>
                </a:solidFill>
                <a:latin typeface="+mj-lt"/>
                <a:ea typeface="Arial Unicode MS" panose="020B0604020202020204" pitchFamily="34" charset="-128"/>
                <a:cs typeface="Arial Unicode MS" panose="020B0604020202020204" pitchFamily="34" charset="-128"/>
              </a:rPr>
              <a:t>You can pass in more than one control parameter like tokenization &amp; weighting.</a:t>
            </a:r>
            <a:endParaRPr lang="en-US" sz="1600" kern="1200" dirty="0">
              <a:solidFill>
                <a:prstClr val="white"/>
              </a:solidFill>
              <a:latin typeface="+mj-lt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A77CAD-9877-A742-8704-48D5DEFE24A6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0CB0CD-0CBC-B24B-9F6E-B1E0551AFC35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26664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tokens are in not in common (disjoint)?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1637769" y="2467685"/>
            <a:ext cx="1044217" cy="1922633"/>
          </a:xfrm>
          <a:custGeom>
            <a:avLst/>
            <a:gdLst>
              <a:gd name="connsiteX0" fmla="*/ 522109 w 1044217"/>
              <a:gd name="connsiteY0" fmla="*/ 0 h 1922633"/>
              <a:gd name="connsiteX1" fmla="*/ 538328 w 1044217"/>
              <a:gd name="connsiteY1" fmla="*/ 9853 h 1922633"/>
              <a:gd name="connsiteX2" fmla="*/ 1044217 w 1044217"/>
              <a:gd name="connsiteY2" fmla="*/ 961316 h 1922633"/>
              <a:gd name="connsiteX3" fmla="*/ 538328 w 1044217"/>
              <a:gd name="connsiteY3" fmla="*/ 1912779 h 1922633"/>
              <a:gd name="connsiteX4" fmla="*/ 522109 w 1044217"/>
              <a:gd name="connsiteY4" fmla="*/ 1922633 h 1922633"/>
              <a:gd name="connsiteX5" fmla="*/ 505889 w 1044217"/>
              <a:gd name="connsiteY5" fmla="*/ 1912779 h 1922633"/>
              <a:gd name="connsiteX6" fmla="*/ 0 w 1044217"/>
              <a:gd name="connsiteY6" fmla="*/ 961316 h 1922633"/>
              <a:gd name="connsiteX7" fmla="*/ 505889 w 1044217"/>
              <a:gd name="connsiteY7" fmla="*/ 9853 h 1922633"/>
              <a:gd name="connsiteX8" fmla="*/ 522109 w 1044217"/>
              <a:gd name="connsiteY8" fmla="*/ 0 h 19226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4217" h="1922633">
                <a:moveTo>
                  <a:pt x="522109" y="0"/>
                </a:moveTo>
                <a:lnTo>
                  <a:pt x="538328" y="9853"/>
                </a:lnTo>
                <a:cubicBezTo>
                  <a:pt x="843545" y="216054"/>
                  <a:pt x="1044217" y="565251"/>
                  <a:pt x="1044217" y="961316"/>
                </a:cubicBezTo>
                <a:cubicBezTo>
                  <a:pt x="1044217" y="1357382"/>
                  <a:pt x="843545" y="1706578"/>
                  <a:pt x="538328" y="1912779"/>
                </a:cubicBezTo>
                <a:lnTo>
                  <a:pt x="522109" y="1922633"/>
                </a:lnTo>
                <a:lnTo>
                  <a:pt x="505889" y="1912779"/>
                </a:lnTo>
                <a:cubicBezTo>
                  <a:pt x="200672" y="1706578"/>
                  <a:pt x="0" y="1357382"/>
                  <a:pt x="0" y="961316"/>
                </a:cubicBezTo>
                <a:cubicBezTo>
                  <a:pt x="0" y="565251"/>
                  <a:pt x="200672" y="216054"/>
                  <a:pt x="505889" y="9853"/>
                </a:cubicBezTo>
                <a:lnTo>
                  <a:pt x="522109" y="0"/>
                </a:lnTo>
                <a:close/>
              </a:path>
            </a:pathLst>
          </a:custGeom>
          <a:noFill/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387135" y="2281575"/>
            <a:ext cx="1772742" cy="2294850"/>
          </a:xfrm>
          <a:custGeom>
            <a:avLst/>
            <a:gdLst>
              <a:gd name="connsiteX0" fmla="*/ 1147425 w 1772742"/>
              <a:gd name="connsiteY0" fmla="*/ 0 h 2294850"/>
              <a:gd name="connsiteX1" fmla="*/ 1694356 w 1772742"/>
              <a:gd name="connsiteY1" fmla="*/ 138488 h 2294850"/>
              <a:gd name="connsiteX2" fmla="*/ 1772742 w 1772742"/>
              <a:gd name="connsiteY2" fmla="*/ 186109 h 2294850"/>
              <a:gd name="connsiteX3" fmla="*/ 1756522 w 1772742"/>
              <a:gd name="connsiteY3" fmla="*/ 195962 h 2294850"/>
              <a:gd name="connsiteX4" fmla="*/ 1250633 w 1772742"/>
              <a:gd name="connsiteY4" fmla="*/ 1147425 h 2294850"/>
              <a:gd name="connsiteX5" fmla="*/ 1756522 w 1772742"/>
              <a:gd name="connsiteY5" fmla="*/ 2098888 h 2294850"/>
              <a:gd name="connsiteX6" fmla="*/ 1772742 w 1772742"/>
              <a:gd name="connsiteY6" fmla="*/ 2108742 h 2294850"/>
              <a:gd name="connsiteX7" fmla="*/ 1694356 w 1772742"/>
              <a:gd name="connsiteY7" fmla="*/ 2156362 h 2294850"/>
              <a:gd name="connsiteX8" fmla="*/ 1147425 w 1772742"/>
              <a:gd name="connsiteY8" fmla="*/ 2294850 h 2294850"/>
              <a:gd name="connsiteX9" fmla="*/ 0 w 1772742"/>
              <a:gd name="connsiteY9" fmla="*/ 1147425 h 2294850"/>
              <a:gd name="connsiteX10" fmla="*/ 1147425 w 1772742"/>
              <a:gd name="connsiteY10" fmla="*/ 0 h 229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2742" h="2294850">
                <a:moveTo>
                  <a:pt x="1147425" y="0"/>
                </a:moveTo>
                <a:cubicBezTo>
                  <a:pt x="1345458" y="0"/>
                  <a:pt x="1531773" y="50168"/>
                  <a:pt x="1694356" y="138488"/>
                </a:cubicBezTo>
                <a:lnTo>
                  <a:pt x="1772742" y="186109"/>
                </a:lnTo>
                <a:lnTo>
                  <a:pt x="1756522" y="195962"/>
                </a:lnTo>
                <a:cubicBezTo>
                  <a:pt x="1451305" y="402163"/>
                  <a:pt x="1250633" y="751360"/>
                  <a:pt x="1250633" y="1147425"/>
                </a:cubicBezTo>
                <a:cubicBezTo>
                  <a:pt x="1250633" y="1543491"/>
                  <a:pt x="1451305" y="1892687"/>
                  <a:pt x="1756522" y="2098888"/>
                </a:cubicBezTo>
                <a:lnTo>
                  <a:pt x="1772742" y="2108742"/>
                </a:lnTo>
                <a:lnTo>
                  <a:pt x="1694356" y="2156362"/>
                </a:lnTo>
                <a:cubicBezTo>
                  <a:pt x="1531773" y="2244682"/>
                  <a:pt x="1345458" y="2294850"/>
                  <a:pt x="1147425" y="2294850"/>
                </a:cubicBezTo>
                <a:cubicBezTo>
                  <a:pt x="513720" y="2294850"/>
                  <a:pt x="0" y="1781130"/>
                  <a:pt x="0" y="1147425"/>
                </a:cubicBezTo>
                <a:cubicBezTo>
                  <a:pt x="0" y="513720"/>
                  <a:pt x="513720" y="0"/>
                  <a:pt x="1147425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159878" y="2281575"/>
            <a:ext cx="1772741" cy="2294850"/>
          </a:xfrm>
          <a:custGeom>
            <a:avLst/>
            <a:gdLst>
              <a:gd name="connsiteX0" fmla="*/ 625316 w 1772741"/>
              <a:gd name="connsiteY0" fmla="*/ 0 h 2294850"/>
              <a:gd name="connsiteX1" fmla="*/ 1772741 w 1772741"/>
              <a:gd name="connsiteY1" fmla="*/ 1147425 h 2294850"/>
              <a:gd name="connsiteX2" fmla="*/ 625316 w 1772741"/>
              <a:gd name="connsiteY2" fmla="*/ 2294850 h 2294850"/>
              <a:gd name="connsiteX3" fmla="*/ 78385 w 1772741"/>
              <a:gd name="connsiteY3" fmla="*/ 2156362 h 2294850"/>
              <a:gd name="connsiteX4" fmla="*/ 0 w 1772741"/>
              <a:gd name="connsiteY4" fmla="*/ 2108742 h 2294850"/>
              <a:gd name="connsiteX5" fmla="*/ 16219 w 1772741"/>
              <a:gd name="connsiteY5" fmla="*/ 2098888 h 2294850"/>
              <a:gd name="connsiteX6" fmla="*/ 522108 w 1772741"/>
              <a:gd name="connsiteY6" fmla="*/ 1147425 h 2294850"/>
              <a:gd name="connsiteX7" fmla="*/ 16219 w 1772741"/>
              <a:gd name="connsiteY7" fmla="*/ 195962 h 2294850"/>
              <a:gd name="connsiteX8" fmla="*/ 0 w 1772741"/>
              <a:gd name="connsiteY8" fmla="*/ 186109 h 2294850"/>
              <a:gd name="connsiteX9" fmla="*/ 78385 w 1772741"/>
              <a:gd name="connsiteY9" fmla="*/ 138488 h 2294850"/>
              <a:gd name="connsiteX10" fmla="*/ 625316 w 1772741"/>
              <a:gd name="connsiteY10" fmla="*/ 0 h 2294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772741" h="2294850">
                <a:moveTo>
                  <a:pt x="625316" y="0"/>
                </a:moveTo>
                <a:cubicBezTo>
                  <a:pt x="1259021" y="0"/>
                  <a:pt x="1772741" y="513720"/>
                  <a:pt x="1772741" y="1147425"/>
                </a:cubicBezTo>
                <a:cubicBezTo>
                  <a:pt x="1772741" y="1781130"/>
                  <a:pt x="1259021" y="2294850"/>
                  <a:pt x="625316" y="2294850"/>
                </a:cubicBezTo>
                <a:cubicBezTo>
                  <a:pt x="427283" y="2294850"/>
                  <a:pt x="240968" y="2244682"/>
                  <a:pt x="78385" y="2156362"/>
                </a:cubicBezTo>
                <a:lnTo>
                  <a:pt x="0" y="2108742"/>
                </a:lnTo>
                <a:lnTo>
                  <a:pt x="16219" y="2098888"/>
                </a:lnTo>
                <a:cubicBezTo>
                  <a:pt x="321436" y="1892687"/>
                  <a:pt x="522108" y="1543491"/>
                  <a:pt x="522108" y="1147425"/>
                </a:cubicBezTo>
                <a:cubicBezTo>
                  <a:pt x="522108" y="751360"/>
                  <a:pt x="321436" y="402163"/>
                  <a:pt x="16219" y="195962"/>
                </a:cubicBezTo>
                <a:lnTo>
                  <a:pt x="0" y="186109"/>
                </a:lnTo>
                <a:lnTo>
                  <a:pt x="78385" y="138488"/>
                </a:lnTo>
                <a:cubicBezTo>
                  <a:pt x="240968" y="50168"/>
                  <a:pt x="427283" y="0"/>
                  <a:pt x="625316" y="0"/>
                </a:cubicBezTo>
                <a:close/>
              </a:path>
            </a:pathLst>
          </a:custGeom>
          <a:solidFill>
            <a:srgbClr val="FFC000"/>
          </a:solidFill>
          <a:ln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457200"/>
            <a:endParaRPr lang="en-US" sz="1800" kern="1200" dirty="0">
              <a:solidFill>
                <a:prstClr val="white"/>
              </a:solidFill>
              <a:latin typeface="Arial Unicode MS" panose="020B0604020202020204" pitchFamily="34" charset="-128"/>
            </a:endParaRPr>
          </a:p>
        </p:txBody>
      </p:sp>
      <p:pic>
        <p:nvPicPr>
          <p:cNvPr id="10" name="Picture 2" descr="Image result for document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61" y="2955952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Image result for document ic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1772" y="2955952"/>
            <a:ext cx="946096" cy="94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7672" y="1652423"/>
            <a:ext cx="3935851" cy="378667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EFECB8-5FC6-5440-9529-8C17703FF409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9C5D47-2B58-1441-9064-FBBB1B0E75DE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6922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00A58B-DD98-43D0-B791-721480A02982}" type="datetime1">
              <a:rPr lang="en-US" smtClean="0"/>
              <a:pPr/>
              <a:t>4/20/26</a:t>
            </a:fld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about disjoint tokens?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Kwartler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245743" y="6356351"/>
            <a:ext cx="85725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lnSpc>
                <a:spcPct val="200000"/>
              </a:lnSpc>
              <a:defRPr lang="en-US" sz="9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7290FF7-652B-4475-AEAB-8B1A5D23AE09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867104" y="1718442"/>
            <a:ext cx="39421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/>
              <a:t>D_ComparisonCloud.R</a:t>
            </a:r>
            <a:endParaRPr lang="en-US" sz="3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EC6313-EB8A-734D-8222-4CFF784570D1}"/>
              </a:ext>
            </a:extLst>
          </p:cNvPr>
          <p:cNvCxnSpPr/>
          <p:nvPr/>
        </p:nvCxnSpPr>
        <p:spPr>
          <a:xfrm>
            <a:off x="6798363" y="6549885"/>
            <a:ext cx="0" cy="18288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3221BB-C1F5-EE4C-80EF-72D7B6F82EF6}"/>
              </a:ext>
            </a:extLst>
          </p:cNvPr>
          <p:cNvCxnSpPr/>
          <p:nvPr/>
        </p:nvCxnSpPr>
        <p:spPr>
          <a:xfrm>
            <a:off x="7076661" y="4664763"/>
            <a:ext cx="18288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65917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Harvard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1C30"/>
      </a:accent1>
      <a:accent2>
        <a:srgbClr val="8C8179"/>
      </a:accent2>
      <a:accent3>
        <a:srgbClr val="293352"/>
      </a:accent3>
      <a:accent4>
        <a:srgbClr val="8996A0"/>
      </a:accent4>
      <a:accent5>
        <a:srgbClr val="BAC5C6"/>
      </a:accent5>
      <a:accent6>
        <a:srgbClr val="4E84C4"/>
      </a:accent6>
      <a:hlink>
        <a:srgbClr val="52854C"/>
      </a:hlink>
      <a:folHlink>
        <a:srgbClr val="E87D1E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3754</TotalTime>
  <Words>1286</Words>
  <Application>Microsoft Macintosh PowerPoint</Application>
  <PresentationFormat>On-screen Show (4:3)</PresentationFormat>
  <Paragraphs>281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 Unicode MS</vt:lpstr>
      <vt:lpstr>Arial</vt:lpstr>
      <vt:lpstr>Calibri</vt:lpstr>
      <vt:lpstr>Consolas</vt:lpstr>
      <vt:lpstr>1_Office Theme</vt:lpstr>
      <vt:lpstr>What is a word cloud?</vt:lpstr>
      <vt:lpstr>Unigram Tokenization</vt:lpstr>
      <vt:lpstr>Changing Tokenization Schema</vt:lpstr>
      <vt:lpstr>Tokenization is the process of chopping up a string into predefined units called tokens.</vt:lpstr>
      <vt:lpstr>To make a wordcloud start with a WFM</vt:lpstr>
      <vt:lpstr>Then sort it decreasing = TRUE</vt:lpstr>
      <vt:lpstr>Let’s Practice!</vt:lpstr>
      <vt:lpstr>B_Simple_WordCloud.R</vt:lpstr>
      <vt:lpstr>PowerPoint Presentation</vt:lpstr>
      <vt:lpstr>WCs are boring with a single corpus.</vt:lpstr>
      <vt:lpstr>With 2+ Corpora, WCs are more insightful</vt:lpstr>
      <vt:lpstr>Dealing with many text files is tricky.</vt:lpstr>
      <vt:lpstr>Manipulating multiple corpora</vt:lpstr>
      <vt:lpstr>The new WC will examine inner and disjoins</vt:lpstr>
      <vt:lpstr>What tokens are in common?</vt:lpstr>
      <vt:lpstr>Lets make some improved word clouds</vt:lpstr>
      <vt:lpstr>Introducing TF-IDF Term Frequency Inverse Document Frequency</vt:lpstr>
      <vt:lpstr>The TF of TF-IDF</vt:lpstr>
      <vt:lpstr>Inverse Document Frequency</vt:lpstr>
      <vt:lpstr>Term Frequency [not quite frequency from before]</vt:lpstr>
      <vt:lpstr>Inverse Document Frequency of TF-IDF</vt:lpstr>
      <vt:lpstr>TF-IDF Simple Example</vt:lpstr>
      <vt:lpstr>Applying TF-IDF to a DTM/TDM</vt:lpstr>
      <vt:lpstr>What tokens are in not in common (disjoint)?</vt:lpstr>
      <vt:lpstr>What about disjoint tokens?</vt:lpstr>
    </vt:vector>
  </TitlesOfParts>
  <Company>Liberty Mutual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Kwartler, Edward</dc:creator>
  <cp:lastModifiedBy>Ted Kwartler</cp:lastModifiedBy>
  <cp:revision>134</cp:revision>
  <cp:lastPrinted>2018-11-26T18:56:28Z</cp:lastPrinted>
  <dcterms:created xsi:type="dcterms:W3CDTF">2018-05-23T17:24:59Z</dcterms:created>
  <dcterms:modified xsi:type="dcterms:W3CDTF">2026-04-20T23:45:23Z</dcterms:modified>
</cp:coreProperties>
</file>